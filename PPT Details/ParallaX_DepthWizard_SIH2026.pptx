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  <a:latin typeface="Arial"/>
              </a:rPr>
              <a:t>Error on 40 held-out LiDAR test tiles, metres [3]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Predict 0 m</c:v>
                </c:pt>
              </c:strCache>
            </c:strRef>
          </c:tx>
          <c:spPr>
            <a:solidFill>
              <a:srgbClr val="B8C2CF"/>
            </a:solidFill>
          </c:spPr>
          <c:cat>
            <c:strRef>
              <c:f>Sheet1!$A$2:$A$3</c:f>
              <c:strCache>
                <c:ptCount val="2"/>
                <c:pt idx="0">
                  <c:v>RMSE</c:v>
                </c:pt>
                <c:pt idx="1">
                  <c:v>MAE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9.35</c:v>
                </c:pt>
                <c:pt idx="1">
                  <c:v>5.1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RS3DAda [6]</c:v>
                </c:pt>
              </c:strCache>
            </c:strRef>
          </c:tx>
          <c:spPr>
            <a:solidFill>
              <a:srgbClr val="7C8EA8"/>
            </a:solidFill>
          </c:spPr>
          <c:cat>
            <c:strRef>
              <c:f>Sheet1!$A$2:$A$3</c:f>
              <c:strCache>
                <c:ptCount val="2"/>
                <c:pt idx="0">
                  <c:v>RMSE</c:v>
                </c:pt>
                <c:pt idx="1">
                  <c:v>MAE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6.74</c:v>
                </c:pt>
                <c:pt idx="1">
                  <c:v>3.47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Sheet1!$A$2:$A$3</c:f>
              <c:strCache>
                <c:ptCount val="2"/>
                <c:pt idx="0">
                  <c:v>RMSE</c:v>
                </c:pt>
                <c:pt idx="1">
                  <c:v>MAE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4.69</c:v>
                </c:pt>
                <c:pt idx="1">
                  <c:v>2.29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5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  <a:latin typeface="Arial"/>
              </a:rPr>
              <a:t>Full DSM vs airborne LiDAR, RMSE in metres [8]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Terrain map alone</c:v>
                </c:pt>
              </c:strCache>
            </c:strRef>
          </c:tx>
          <c:spPr>
            <a:solidFill>
              <a:srgbClr val="9FB6CD"/>
            </a:solidFill>
          </c:spPr>
          <c:cat>
            <c:strRef>
              <c:f>Sheet1!$A$2:$A$5</c:f>
              <c:strCache>
                <c:ptCount val="4"/>
                <c:pt idx="0">
                  <c:v>Residential</c:v>
                </c:pt>
                <c:pt idx="1">
                  <c:v>Sparse</c:v>
                </c:pt>
                <c:pt idx="2">
                  <c:v>Hilly</c:v>
                </c:pt>
                <c:pt idx="3">
                  <c:v>Forest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6.95</c:v>
                </c:pt>
                <c:pt idx="1">
                  <c:v>4.99</c:v>
                </c:pt>
                <c:pt idx="2">
                  <c:v>5.88</c:v>
                </c:pt>
                <c:pt idx="3">
                  <c:v>8.43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Ours: terrain + model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Sheet1!$A$2:$A$5</c:f>
              <c:strCache>
                <c:ptCount val="4"/>
                <c:pt idx="0">
                  <c:v>Residential</c:v>
                </c:pt>
                <c:pt idx="1">
                  <c:v>Sparse</c:v>
                </c:pt>
                <c:pt idx="2">
                  <c:v>Hilly</c:v>
                </c:pt>
                <c:pt idx="3">
                  <c:v>Forest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5.4</c:v>
                </c:pt>
                <c:pt idx="1">
                  <c:v>3.57</c:v>
                </c:pt>
                <c:pt idx="2">
                  <c:v>3.84</c:v>
                </c:pt>
                <c:pt idx="3">
                  <c:v>7.95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F"/>
            </a:solidFill>
          </a:ln>
        </c:spPr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5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Relationship Id="rId10" Type="http://schemas.openxmlformats.org/officeDocument/2006/relationships/image" Target="../media/image1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chart" Target="../charts/chart1.xml"/><Relationship Id="rId6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1.jpg"/><Relationship Id="rId6" Type="http://schemas.openxmlformats.org/officeDocument/2006/relationships/image" Target="../media/image12.jpg"/><Relationship Id="rId7" Type="http://schemas.openxmlformats.org/officeDocument/2006/relationships/image" Target="../media/image10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 anchor="ctr"/>
          <a:lstStyle/>
          <a:p>
            <a:pPr eaLnBrk="1" hangingPunct="1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ONE IMAGE → 3D TERRAIN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2" name="Picture 15361" descr="paralla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29184"/>
            <a:ext cx="1965960" cy="548310"/>
          </a:xfrm>
          <a:prstGeom prst="rect">
            <a:avLst/>
          </a:prstGeom>
        </p:spPr>
      </p:pic>
      <p:sp>
        <p:nvSpPr>
          <p:cNvPr id="15363" name="Rectangle 15362"/>
          <p:cNvSpPr/>
          <p:nvPr/>
        </p:nvSpPr>
        <p:spPr>
          <a:xfrm>
            <a:off x="320040" y="1234440"/>
            <a:ext cx="7315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5364" name="TextBox 15363"/>
          <p:cNvSpPr txBox="1"/>
          <p:nvPr/>
        </p:nvSpPr>
        <p:spPr>
          <a:xfrm>
            <a:off x="448056" y="1188720"/>
            <a:ext cx="374903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Arial"/>
              </a:rPr>
              <a:t>THE PROBLEM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365760" y="1600200"/>
            <a:ext cx="370332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700"/>
              </a:spcAft>
            </a:pPr>
            <a:r>
              <a:rPr sz="125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250" b="0" i="0">
                <a:solidFill>
                  <a:srgbClr val="1C1C1C"/>
                </a:solidFill>
                <a:latin typeface="Arial"/>
              </a:rPr>
              <a:t>India loses about </a:t>
            </a:r>
            <a:r>
              <a:rPr sz="1250" b="1" i="0">
                <a:solidFill>
                  <a:srgbClr val="1C1C1C"/>
                </a:solidFill>
                <a:latin typeface="Arial"/>
              </a:rPr>
              <a:t>USD 7.4 billion a year to floods</a:t>
            </a:r>
            <a:r>
              <a:rPr sz="1250" b="0" i="0">
                <a:solidFill>
                  <a:srgbClr val="1C1C1C"/>
                </a:solidFill>
                <a:latin typeface="Arial"/>
              </a:rPr>
              <a:t> alone. [1]</a:t>
            </a:r>
          </a:p>
          <a:p>
            <a:pPr algn="l">
              <a:spcAft>
                <a:spcPts val="700"/>
              </a:spcAft>
            </a:pPr>
            <a:r>
              <a:rPr sz="125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250" b="0" i="0">
                <a:solidFill>
                  <a:srgbClr val="1C1C1C"/>
                </a:solidFill>
                <a:latin typeface="Arial"/>
              </a:rPr>
              <a:t>Flood and landslide maps need an elevation model, but today that means </a:t>
            </a:r>
            <a:r>
              <a:rPr sz="1250" b="1" i="0">
                <a:solidFill>
                  <a:srgbClr val="1C1C1C"/>
                </a:solidFill>
                <a:latin typeface="Arial"/>
              </a:rPr>
              <a:t>LiDAR, stereo or radar</a:t>
            </a:r>
            <a:r>
              <a:rPr sz="1250" b="0" i="0">
                <a:solidFill>
                  <a:srgbClr val="1C1C1C"/>
                </a:solidFill>
                <a:latin typeface="Arial"/>
              </a:rPr>
              <a:t>: $5k–$100k+ per survey and days of flying. [2]</a:t>
            </a:r>
          </a:p>
          <a:p>
            <a:pPr algn="l">
              <a:spcAft>
                <a:spcPts val="700"/>
              </a:spcAft>
            </a:pPr>
            <a:r>
              <a:rPr sz="125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250" b="0" i="0">
                <a:solidFill>
                  <a:srgbClr val="1C1C1C"/>
                </a:solidFill>
                <a:latin typeface="Arial"/>
              </a:rPr>
              <a:t>Depth AI trained on street photos gives only </a:t>
            </a:r>
            <a:r>
              <a:rPr sz="1250" b="1" i="0">
                <a:solidFill>
                  <a:srgbClr val="1C1C1C"/>
                </a:solidFill>
                <a:latin typeface="Arial"/>
              </a:rPr>
              <a:t>relative depth</a:t>
            </a:r>
            <a:r>
              <a:rPr sz="1250" b="0" i="0">
                <a:solidFill>
                  <a:srgbClr val="1C1C1C"/>
                </a:solidFill>
                <a:latin typeface="Arial"/>
              </a:rPr>
              <a:t>, not real metres from above.</a:t>
            </a:r>
          </a:p>
        </p:txBody>
      </p:sp>
      <p:sp>
        <p:nvSpPr>
          <p:cNvPr id="15366" name="Rectangle 15365"/>
          <p:cNvSpPr/>
          <p:nvPr/>
        </p:nvSpPr>
        <p:spPr>
          <a:xfrm>
            <a:off x="4251960" y="1234440"/>
            <a:ext cx="73152" cy="2743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5367" name="TextBox 15366"/>
          <p:cNvSpPr txBox="1"/>
          <p:nvPr/>
        </p:nvSpPr>
        <p:spPr>
          <a:xfrm>
            <a:off x="4379976" y="1188720"/>
            <a:ext cx="374903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0070C0"/>
                </a:solidFill>
                <a:latin typeface="Arial"/>
              </a:rPr>
              <a:t>OUR SOLUTION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4297680" y="1600200"/>
            <a:ext cx="3749039" cy="2103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100" b="1" i="0">
                <a:solidFill>
                  <a:srgbClr val="1C1C1C"/>
                </a:solidFill>
                <a:latin typeface="Arial"/>
              </a:rPr>
              <a:t>One satellite or aerial image in, a measured elevation model out</a:t>
            </a:r>
            <a:r>
              <a:rPr sz="1100" b="0" i="0">
                <a:solidFill>
                  <a:srgbClr val="1C1C1C"/>
                </a:solidFill>
                <a:latin typeface="Arial"/>
              </a:rPr>
              <a:t>: a DSM GeoTIFF and a 3D scene you can fly through.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100" b="0" i="0">
                <a:solidFill>
                  <a:srgbClr val="1C1C1C"/>
                </a:solidFill>
                <a:latin typeface="Arial"/>
              </a:rPr>
              <a:t>Built on DINOv3-SAT [4] and trained on LiDAR heights [3], our model reads </a:t>
            </a:r>
            <a:r>
              <a:rPr sz="1100" b="1" i="0">
                <a:solidFill>
                  <a:srgbClr val="1C1C1C"/>
                </a:solidFill>
                <a:latin typeface="Arial"/>
              </a:rPr>
              <a:t>height above ground in metres</a:t>
            </a:r>
            <a:r>
              <a:rPr sz="1100" b="0" i="0">
                <a:solidFill>
                  <a:srgbClr val="1C1C1C"/>
                </a:solidFill>
                <a:latin typeface="Arial"/>
              </a:rPr>
              <a:t>; a 30 m terrain map adds the ground [7].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100" b="0" i="0">
                <a:solidFill>
                  <a:srgbClr val="1C1C1C"/>
                </a:solidFill>
                <a:latin typeface="Arial"/>
              </a:rPr>
              <a:t>GeoTIFF gives an absolute DSM; PNG/JPG a relative DSM, or a full DSM with 3 map points.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100" b="0" i="0">
                <a:solidFill>
                  <a:srgbClr val="1C1C1C"/>
                </a:solidFill>
                <a:latin typeface="Arial"/>
              </a:rPr>
              <a:t>It </a:t>
            </a:r>
            <a:r>
              <a:rPr sz="1100" b="1" i="0">
                <a:solidFill>
                  <a:srgbClr val="1C1C1C"/>
                </a:solidFill>
                <a:latin typeface="Arial"/>
              </a:rPr>
              <a:t>checks itself</a:t>
            </a:r>
            <a:r>
              <a:rPr sz="1100" b="0" i="0">
                <a:solidFill>
                  <a:srgbClr val="1C1C1C"/>
                </a:solidFill>
                <a:latin typeface="Arial"/>
              </a:rPr>
              <a:t>: load LiDAR or any reference and get RMSE, MAE, correlation and an error map.</a:t>
            </a:r>
          </a:p>
        </p:txBody>
      </p:sp>
      <p:pic>
        <p:nvPicPr>
          <p:cNvPr id="15369" name="Picture 15368" descr="ui.jpg"/>
          <p:cNvPicPr>
            <a:picLocks noChangeAspect="1"/>
          </p:cNvPicPr>
          <p:nvPr/>
        </p:nvPicPr>
        <p:blipFill>
          <a:blip r:embed="rId5"/>
          <a:srcRect t="5642" b="5642"/>
          <a:stretch>
            <a:fillRect/>
          </a:stretch>
        </p:blipFill>
        <p:spPr>
          <a:xfrm>
            <a:off x="8211312" y="1243584"/>
            <a:ext cx="3657600" cy="2084831"/>
          </a:xfrm>
          <a:prstGeom prst="rect">
            <a:avLst/>
          </a:prstGeom>
          <a:ln w="9525">
            <a:solidFill>
              <a:srgbClr val="C9D6E8"/>
            </a:solidFill>
          </a:ln>
        </p:spPr>
      </p:pic>
      <p:sp>
        <p:nvSpPr>
          <p:cNvPr id="15370" name="TextBox 15369"/>
          <p:cNvSpPr txBox="1"/>
          <p:nvPr/>
        </p:nvSpPr>
        <p:spPr>
          <a:xfrm>
            <a:off x="8211312" y="3346704"/>
            <a:ext cx="3657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1">
                <a:solidFill>
                  <a:srgbClr val="555E6B"/>
                </a:solidFill>
                <a:latin typeface="Arial"/>
              </a:rPr>
              <a:t>Our app: Chungthang, Sikkim, from one WorldView-2 image [9]</a:t>
            </a:r>
          </a:p>
        </p:txBody>
      </p:sp>
      <p:sp>
        <p:nvSpPr>
          <p:cNvPr id="15371" name="Rectangle 15370"/>
          <p:cNvSpPr/>
          <p:nvPr/>
        </p:nvSpPr>
        <p:spPr>
          <a:xfrm>
            <a:off x="320040" y="3730752"/>
            <a:ext cx="2807208" cy="932688"/>
          </a:xfrm>
          <a:prstGeom prst="rect">
            <a:avLst/>
          </a:prstGeom>
          <a:solidFill>
            <a:srgbClr val="FFFFFF"/>
          </a:solidFill>
          <a:ln w="1587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5372" name="Rectangle 15371"/>
          <p:cNvSpPr/>
          <p:nvPr/>
        </p:nvSpPr>
        <p:spPr>
          <a:xfrm>
            <a:off x="320040" y="3730752"/>
            <a:ext cx="82296" cy="932688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5373" name="TextBox 15372"/>
          <p:cNvSpPr txBox="1"/>
          <p:nvPr/>
        </p:nvSpPr>
        <p:spPr>
          <a:xfrm>
            <a:off x="484632" y="3767328"/>
            <a:ext cx="257860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0070C0"/>
                </a:solidFill>
                <a:latin typeface="Arial"/>
              </a:rPr>
              <a:t>4.69 m</a:t>
            </a:r>
          </a:p>
        </p:txBody>
      </p:sp>
      <p:sp>
        <p:nvSpPr>
          <p:cNvPr id="15374" name="TextBox 15373"/>
          <p:cNvSpPr txBox="1"/>
          <p:nvPr/>
        </p:nvSpPr>
        <p:spPr>
          <a:xfrm>
            <a:off x="484632" y="4206240"/>
            <a:ext cx="2578608" cy="4297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55E6B"/>
                </a:solidFill>
                <a:latin typeface="Arial"/>
              </a:rPr>
              <a:t>average height error (RMSE) on 40 held-out airborne-LiDAR test tiles [3]</a:t>
            </a:r>
          </a:p>
        </p:txBody>
      </p:sp>
      <p:sp>
        <p:nvSpPr>
          <p:cNvPr id="15375" name="Rectangle 15374"/>
          <p:cNvSpPr/>
          <p:nvPr/>
        </p:nvSpPr>
        <p:spPr>
          <a:xfrm>
            <a:off x="3236976" y="3730752"/>
            <a:ext cx="2807208" cy="932688"/>
          </a:xfrm>
          <a:prstGeom prst="rect">
            <a:avLst/>
          </a:prstGeom>
          <a:solidFill>
            <a:srgbClr val="FFFFFF"/>
          </a:solidFill>
          <a:ln w="15875">
            <a:solidFill>
              <a:srgbClr val="138D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5376" name="Rectangle 15375"/>
          <p:cNvSpPr/>
          <p:nvPr/>
        </p:nvSpPr>
        <p:spPr>
          <a:xfrm>
            <a:off x="3236976" y="3730752"/>
            <a:ext cx="82296" cy="932688"/>
          </a:xfrm>
          <a:prstGeom prst="rect">
            <a:avLst/>
          </a:prstGeom>
          <a:solidFill>
            <a:srgbClr val="138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5377" name="TextBox 15376"/>
          <p:cNvSpPr txBox="1"/>
          <p:nvPr/>
        </p:nvSpPr>
        <p:spPr>
          <a:xfrm>
            <a:off x="3401568" y="3767328"/>
            <a:ext cx="257860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138D75"/>
                </a:solidFill>
                <a:latin typeface="Arial"/>
              </a:rPr>
              <a:t>30% lower</a:t>
            </a:r>
          </a:p>
        </p:txBody>
      </p:sp>
      <p:sp>
        <p:nvSpPr>
          <p:cNvPr id="15378" name="TextBox 15377"/>
          <p:cNvSpPr txBox="1"/>
          <p:nvPr/>
        </p:nvSpPr>
        <p:spPr>
          <a:xfrm>
            <a:off x="3401568" y="4206240"/>
            <a:ext cx="2578608" cy="4297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55E6B"/>
                </a:solidFill>
                <a:latin typeface="Arial"/>
              </a:rPr>
              <a:t>error than RS3DAda, a NeurIPS 2024 height model, on the same tiles [6]</a:t>
            </a:r>
          </a:p>
        </p:txBody>
      </p:sp>
      <p:sp>
        <p:nvSpPr>
          <p:cNvPr id="15379" name="Rectangle 15378"/>
          <p:cNvSpPr/>
          <p:nvPr/>
        </p:nvSpPr>
        <p:spPr>
          <a:xfrm>
            <a:off x="6153912" y="3730752"/>
            <a:ext cx="2807208" cy="932688"/>
          </a:xfrm>
          <a:prstGeom prst="rect">
            <a:avLst/>
          </a:prstGeom>
          <a:solidFill>
            <a:srgbClr val="FFFFFF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5380" name="Rectangle 15379"/>
          <p:cNvSpPr/>
          <p:nvPr/>
        </p:nvSpPr>
        <p:spPr>
          <a:xfrm>
            <a:off x="6153912" y="3730752"/>
            <a:ext cx="82296" cy="932688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5381" name="TextBox 15380"/>
          <p:cNvSpPr txBox="1"/>
          <p:nvPr/>
        </p:nvSpPr>
        <p:spPr>
          <a:xfrm>
            <a:off x="6318503" y="3767328"/>
            <a:ext cx="257860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D9822B"/>
                </a:solidFill>
                <a:latin typeface="Arial"/>
              </a:rPr>
              <a:t>3.8 m</a:t>
            </a:r>
          </a:p>
        </p:txBody>
      </p:sp>
      <p:sp>
        <p:nvSpPr>
          <p:cNvPr id="15382" name="TextBox 15381"/>
          <p:cNvSpPr txBox="1"/>
          <p:nvPr/>
        </p:nvSpPr>
        <p:spPr>
          <a:xfrm>
            <a:off x="6318503" y="4206240"/>
            <a:ext cx="2578608" cy="4297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55E6B"/>
                </a:solidFill>
                <a:latin typeface="Arial"/>
              </a:rPr>
              <a:t>full-DSM error on hilly terrain against USGS airborne LiDAR; terrain map alone: 5.9 m [8]</a:t>
            </a:r>
          </a:p>
        </p:txBody>
      </p:sp>
      <p:sp>
        <p:nvSpPr>
          <p:cNvPr id="15383" name="Rectangle 15382"/>
          <p:cNvSpPr/>
          <p:nvPr/>
        </p:nvSpPr>
        <p:spPr>
          <a:xfrm>
            <a:off x="9070848" y="3730752"/>
            <a:ext cx="2807208" cy="932688"/>
          </a:xfrm>
          <a:prstGeom prst="rect">
            <a:avLst/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5384" name="Rectangle 15383"/>
          <p:cNvSpPr/>
          <p:nvPr/>
        </p:nvSpPr>
        <p:spPr>
          <a:xfrm>
            <a:off x="9070848" y="3730752"/>
            <a:ext cx="82296" cy="93268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5385" name="TextBox 15384"/>
          <p:cNvSpPr txBox="1"/>
          <p:nvPr/>
        </p:nvSpPr>
        <p:spPr>
          <a:xfrm>
            <a:off x="9235440" y="3767328"/>
            <a:ext cx="257860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 i="0">
                <a:solidFill>
                  <a:srgbClr val="2E7D32"/>
                </a:solidFill>
                <a:latin typeface="Arial"/>
              </a:rPr>
              <a:t>≈ 7 s</a:t>
            </a:r>
          </a:p>
        </p:txBody>
      </p:sp>
      <p:sp>
        <p:nvSpPr>
          <p:cNvPr id="15386" name="TextBox 15385"/>
          <p:cNvSpPr txBox="1"/>
          <p:nvPr/>
        </p:nvSpPr>
        <p:spPr>
          <a:xfrm>
            <a:off x="9235440" y="4206240"/>
            <a:ext cx="2578608" cy="4297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55E6B"/>
                </a:solidFill>
                <a:latin typeface="Arial"/>
              </a:rPr>
              <a:t>per 600 × 600 m scene on a laptop GPU, fully offline</a:t>
            </a:r>
          </a:p>
        </p:txBody>
      </p:sp>
      <p:sp>
        <p:nvSpPr>
          <p:cNvPr id="15387" name="TextBox 15386"/>
          <p:cNvSpPr txBox="1"/>
          <p:nvPr/>
        </p:nvSpPr>
        <p:spPr>
          <a:xfrm>
            <a:off x="320040" y="4754880"/>
            <a:ext cx="11521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WHAT IS NEW</a:t>
            </a:r>
            <a:r>
              <a:rPr sz="1150" b="0" i="0">
                <a:solidFill>
                  <a:srgbClr val="1F3864"/>
                </a:solidFill>
                <a:latin typeface="Arial"/>
              </a:rPr>
              <a:t>   ·   heights come out in real metres directly, not as relative depth, and every result can be scored against LiDAR inside the app</a:t>
            </a:r>
          </a:p>
        </p:txBody>
      </p:sp>
      <p:sp>
        <p:nvSpPr>
          <p:cNvPr id="15388" name="Pentagon 15387"/>
          <p:cNvSpPr/>
          <p:nvPr/>
        </p:nvSpPr>
        <p:spPr>
          <a:xfrm>
            <a:off x="320040" y="5102352"/>
            <a:ext cx="2397556" cy="1024128"/>
          </a:xfrm>
          <a:prstGeom prst="homePlat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82880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Upload any image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Arial"/>
              </a:rPr>
              <a:t>GeoTIFF, PNG, JPG or TIFF</a:t>
            </a:r>
          </a:p>
        </p:txBody>
      </p:sp>
      <p:sp>
        <p:nvSpPr>
          <p:cNvPr id="15389" name="Chevron 15388"/>
          <p:cNvSpPr/>
          <p:nvPr/>
        </p:nvSpPr>
        <p:spPr>
          <a:xfrm>
            <a:off x="2607868" y="5102352"/>
            <a:ext cx="2397556" cy="1024128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AI reads heights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Arial"/>
              </a:rPr>
              <a:t>in metres, per pixel</a:t>
            </a:r>
          </a:p>
        </p:txBody>
      </p:sp>
      <p:sp>
        <p:nvSpPr>
          <p:cNvPr id="15390" name="Chevron 15389"/>
          <p:cNvSpPr/>
          <p:nvPr/>
        </p:nvSpPr>
        <p:spPr>
          <a:xfrm>
            <a:off x="4895697" y="5102352"/>
            <a:ext cx="2397556" cy="1024128"/>
          </a:xfrm>
          <a:prstGeom prst="chevron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Add the terrain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Arial"/>
              </a:rPr>
              <a:t>Copernicus or SRTM 30 m [7]</a:t>
            </a:r>
          </a:p>
        </p:txBody>
      </p:sp>
      <p:sp>
        <p:nvSpPr>
          <p:cNvPr id="15391" name="Chevron 15390"/>
          <p:cNvSpPr/>
          <p:nvPr/>
        </p:nvSpPr>
        <p:spPr>
          <a:xfrm>
            <a:off x="7183526" y="5102352"/>
            <a:ext cx="2397556" cy="1024128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Save the DSM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Arial"/>
              </a:rPr>
              <a:t>GeoTIFF for QGIS / ArcGIS</a:t>
            </a:r>
          </a:p>
        </p:txBody>
      </p:sp>
      <p:sp>
        <p:nvSpPr>
          <p:cNvPr id="15392" name="Chevron 15391"/>
          <p:cNvSpPr/>
          <p:nvPr/>
        </p:nvSpPr>
        <p:spPr>
          <a:xfrm>
            <a:off x="9471355" y="5102352"/>
            <a:ext cx="2397556" cy="1024128"/>
          </a:xfrm>
          <a:prstGeom prst="chevron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wrap="square"/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Fly through in 3D</a:t>
            </a:r>
          </a:p>
          <a:p>
            <a:pPr algn="ctr"/>
            <a:r>
              <a:rPr sz="1050" b="0" i="0">
                <a:solidFill>
                  <a:srgbClr val="FFFFFF"/>
                </a:solidFill>
                <a:latin typeface="Arial"/>
              </a:rPr>
              <a:t>and check against LiDAR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paralla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29184"/>
            <a:ext cx="1965960" cy="548310"/>
          </a:xfrm>
          <a:prstGeom prst="rect">
            <a:avLst/>
          </a:prstGeom>
        </p:spPr>
      </p:pic>
      <p:sp>
        <p:nvSpPr>
          <p:cNvPr id="17411" name="Rectangle 17410"/>
          <p:cNvSpPr/>
          <p:nvPr/>
        </p:nvSpPr>
        <p:spPr>
          <a:xfrm>
            <a:off x="320040" y="1188720"/>
            <a:ext cx="3749039" cy="228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320040" y="1188720"/>
            <a:ext cx="3749039" cy="36576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1  ELEVATION EXTRACTION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93192" y="1609344"/>
            <a:ext cx="36118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050" b="0" i="0">
                <a:solidFill>
                  <a:srgbClr val="1C1C1C"/>
                </a:solidFill>
                <a:latin typeface="Arial"/>
              </a:rPr>
              <a:t>Frozen </a:t>
            </a:r>
            <a:r>
              <a:rPr sz="1050" b="1" i="0">
                <a:solidFill>
                  <a:srgbClr val="1C1C1C"/>
                </a:solidFill>
                <a:latin typeface="Arial"/>
              </a:rPr>
              <a:t>DINOv3-SAT ViT-L/16</a:t>
            </a:r>
            <a:r>
              <a:rPr sz="1050" b="0" i="0">
                <a:solidFill>
                  <a:srgbClr val="1C1C1C"/>
                </a:solidFill>
                <a:latin typeface="Arial"/>
              </a:rPr>
              <a:t> encoder, pre-trained by Meta on 493 M satellite images [4]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050" b="0" i="0">
                <a:solidFill>
                  <a:srgbClr val="1C1C1C"/>
                </a:solidFill>
                <a:latin typeface="Arial"/>
              </a:rPr>
              <a:t>Features from blocks 6, 12, 18 and 24 fused by a </a:t>
            </a:r>
            <a:r>
              <a:rPr sz="1050" b="1" i="0">
                <a:solidFill>
                  <a:srgbClr val="1C1C1C"/>
                </a:solidFill>
                <a:latin typeface="Arial"/>
              </a:rPr>
              <a:t>DPT decoder</a:t>
            </a:r>
            <a:r>
              <a:rPr sz="1050" b="0" i="0">
                <a:solidFill>
                  <a:srgbClr val="1C1C1C"/>
                </a:solidFill>
                <a:latin typeface="Arial"/>
              </a:rPr>
              <a:t> that we trained [5]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050" b="0" i="0">
                <a:solidFill>
                  <a:srgbClr val="1C1C1C"/>
                </a:solidFill>
                <a:latin typeface="Arial"/>
              </a:rPr>
              <a:t>Output: </a:t>
            </a:r>
            <a:r>
              <a:rPr sz="1050" b="1" i="0">
                <a:solidFill>
                  <a:srgbClr val="1C1C1C"/>
                </a:solidFill>
                <a:latin typeface="Arial"/>
              </a:rPr>
              <a:t>height above ground in metres</a:t>
            </a:r>
            <a:r>
              <a:rPr sz="1050" b="0" i="0">
                <a:solidFill>
                  <a:srgbClr val="1C1C1C"/>
                </a:solidFill>
                <a:latin typeface="Arial"/>
              </a:rPr>
              <a:t> for every pixel (nDSM)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050" b="0" i="0">
                <a:solidFill>
                  <a:srgbClr val="1C1C1C"/>
                </a:solidFill>
                <a:latin typeface="Arial"/>
              </a:rPr>
              <a:t>Any pixel size normalised to 0.5 m; 608 px tiles, 25% overlap, Gaussian blending, flip averaging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4219955" y="1188720"/>
            <a:ext cx="3749039" cy="228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38D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15" name="Rectangle 17414"/>
          <p:cNvSpPr/>
          <p:nvPr/>
        </p:nvSpPr>
        <p:spPr>
          <a:xfrm>
            <a:off x="4219955" y="1188720"/>
            <a:ext cx="3749039" cy="365760"/>
          </a:xfrm>
          <a:prstGeom prst="rect">
            <a:avLst/>
          </a:prstGeom>
          <a:solidFill>
            <a:srgbClr val="138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2  SCALE CALIBRATION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293107" y="1609344"/>
            <a:ext cx="36118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050" b="0" i="0">
                <a:solidFill>
                  <a:srgbClr val="1C1C1C"/>
                </a:solidFill>
                <a:latin typeface="Arial"/>
              </a:rPr>
              <a:t>Metric scale </a:t>
            </a:r>
            <a:r>
              <a:rPr sz="1050" b="1" i="0">
                <a:solidFill>
                  <a:srgbClr val="1C1C1C"/>
                </a:solidFill>
                <a:latin typeface="Arial"/>
              </a:rPr>
              <a:t>learned from airborne-LiDAR heights</a:t>
            </a:r>
            <a:r>
              <a:rPr sz="1050" b="0" i="0">
                <a:solidFill>
                  <a:srgbClr val="1C1C1C"/>
                </a:solidFill>
                <a:latin typeface="Arial"/>
              </a:rPr>
              <a:t> (masked Huber loss in metres) [3]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050" b="1" i="0">
                <a:solidFill>
                  <a:srgbClr val="1C1C1C"/>
                </a:solidFill>
                <a:latin typeface="Arial"/>
              </a:rPr>
              <a:t>DSM = terrain + heights</a:t>
            </a:r>
            <a:r>
              <a:rPr sz="1050" b="0" i="0">
                <a:solidFill>
                  <a:srgbClr val="1C1C1C"/>
                </a:solidFill>
                <a:latin typeface="Arial"/>
              </a:rPr>
              <a:t>: Copernicus GLO-30 or SRTM resampled onto the image grid, EGM2008 [7]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050" b="0" i="0">
                <a:solidFill>
                  <a:srgbClr val="1C1C1C"/>
                </a:solidFill>
                <a:latin typeface="Arial"/>
              </a:rPr>
              <a:t>PNG/JPG: relative DSM, or </a:t>
            </a:r>
            <a:r>
              <a:rPr sz="1050" b="1" i="0">
                <a:solidFill>
                  <a:srgbClr val="1C1C1C"/>
                </a:solidFill>
                <a:latin typeface="Arial"/>
              </a:rPr>
              <a:t>3+ GCPs</a:t>
            </a:r>
            <a:r>
              <a:rPr sz="1050" b="0" i="0">
                <a:solidFill>
                  <a:srgbClr val="1C1C1C"/>
                </a:solidFill>
                <a:latin typeface="Arial"/>
              </a:rPr>
              <a:t> fit an affine to UTM for a full metric DSM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050" b="0" i="0">
                <a:solidFill>
                  <a:srgbClr val="1C1C1C"/>
                </a:solidFill>
                <a:latin typeface="Arial"/>
              </a:rPr>
              <a:t>With reference data: </a:t>
            </a:r>
            <a:r>
              <a:rPr sz="1050" b="1" i="0">
                <a:solidFill>
                  <a:srgbClr val="1C1C1C"/>
                </a:solidFill>
                <a:latin typeface="Arial"/>
              </a:rPr>
              <a:t>robust offset + scale</a:t>
            </a:r>
            <a:r>
              <a:rPr sz="1050" b="0" i="0">
                <a:solidFill>
                  <a:srgbClr val="1C1C1C"/>
                </a:solidFill>
                <a:latin typeface="Arial"/>
              </a:rPr>
              <a:t> (RANSAC + Huber IRLS), tested on held-out pixels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8119871" y="1188720"/>
            <a:ext cx="3749039" cy="228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98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18" name="Rectangle 17417"/>
          <p:cNvSpPr/>
          <p:nvPr/>
        </p:nvSpPr>
        <p:spPr>
          <a:xfrm>
            <a:off x="8119871" y="1188720"/>
            <a:ext cx="3749039" cy="365760"/>
          </a:xfrm>
          <a:prstGeom prst="rect">
            <a:avLst/>
          </a:prstGeom>
          <a:solidFill>
            <a:srgbClr val="D98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3  VISUALIZATION LAYER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193023" y="1609344"/>
            <a:ext cx="36118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050" b="1" i="0">
                <a:solidFill>
                  <a:srgbClr val="1C1C1C"/>
                </a:solidFill>
                <a:latin typeface="Arial"/>
              </a:rPr>
              <a:t>Three.js / WebGL</a:t>
            </a:r>
            <a:r>
              <a:rPr sz="1050" b="0" i="0">
                <a:solidFill>
                  <a:srgbClr val="1C1C1C"/>
                </a:solidFill>
                <a:latin typeface="Arial"/>
              </a:rPr>
              <a:t> terrain mesh up to 1024 × 1024 vertices, photo draped pixel-exact [10]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050" b="0" i="0">
                <a:solidFill>
                  <a:srgbClr val="1C1C1C"/>
                </a:solidFill>
                <a:latin typeface="Arial"/>
              </a:rPr>
              <a:t>Orbit and </a:t>
            </a:r>
            <a:r>
              <a:rPr sz="1050" b="1" i="0">
                <a:solidFill>
                  <a:srgbClr val="1C1C1C"/>
                </a:solidFill>
                <a:latin typeface="Arial"/>
              </a:rPr>
              <a:t>first-person flight</a:t>
            </a:r>
            <a:r>
              <a:rPr sz="1050" b="0" i="0">
                <a:solidFill>
                  <a:srgbClr val="1C1C1C"/>
                </a:solidFill>
                <a:latin typeface="Arial"/>
              </a:rPr>
              <a:t>; height, slope and contour shading; height profiles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050" b="1" i="0">
                <a:solidFill>
                  <a:srgbClr val="1C1C1C"/>
                </a:solidFill>
                <a:latin typeface="Arial"/>
              </a:rPr>
              <a:t>Validation</a:t>
            </a:r>
            <a:r>
              <a:rPr sz="1050" b="0" i="0">
                <a:solidFill>
                  <a:srgbClr val="1C1C1C"/>
                </a:solidFill>
                <a:latin typeface="Arial"/>
              </a:rPr>
              <a:t>: upload a reference and get RMSE, MAE, r, an error map and a side-by-side swipe</a:t>
            </a:r>
          </a:p>
          <a:p>
            <a:pPr algn="l">
              <a:spcAft>
                <a:spcPts val="400"/>
              </a:spcAft>
            </a:pPr>
            <a:r>
              <a:rPr sz="1050" b="1" i="0">
                <a:solidFill>
                  <a:srgbClr val="0070C0"/>
                </a:solidFill>
                <a:latin typeface="Arial"/>
              </a:rPr>
              <a:t>▪ </a:t>
            </a:r>
            <a:r>
              <a:rPr sz="1050" b="0" i="0">
                <a:solidFill>
                  <a:srgbClr val="1C1C1C"/>
                </a:solidFill>
                <a:latin typeface="Arial"/>
              </a:rPr>
              <a:t>Exports </a:t>
            </a:r>
            <a:r>
              <a:rPr sz="1050" b="1" i="0">
                <a:solidFill>
                  <a:srgbClr val="1C1C1C"/>
                </a:solidFill>
                <a:latin typeface="Arial"/>
              </a:rPr>
              <a:t>GeoTIFF and GLB</a:t>
            </a:r>
            <a:r>
              <a:rPr sz="1050" b="0" i="0">
                <a:solidFill>
                  <a:srgbClr val="1C1C1C"/>
                </a:solidFill>
                <a:latin typeface="Arial"/>
              </a:rPr>
              <a:t>; runs offline in the browser, no cloud</a:t>
            </a:r>
          </a:p>
        </p:txBody>
      </p:sp>
      <p:pic>
        <p:nvPicPr>
          <p:cNvPr id="17420" name="Picture 17419" descr="india_rgb.jpg"/>
          <p:cNvPicPr>
            <a:picLocks noChangeAspect="1"/>
          </p:cNvPicPr>
          <p:nvPr/>
        </p:nvPicPr>
        <p:blipFill>
          <a:blip r:embed="rId5"/>
          <a:srcRect t="19430" b="19430"/>
          <a:stretch>
            <a:fillRect/>
          </a:stretch>
        </p:blipFill>
        <p:spPr>
          <a:xfrm>
            <a:off x="320040" y="3584448"/>
            <a:ext cx="1764792" cy="1078992"/>
          </a:xfrm>
          <a:prstGeom prst="rect">
            <a:avLst/>
          </a:prstGeom>
          <a:ln w="9525">
            <a:solidFill>
              <a:srgbClr val="C9D6E8"/>
            </a:solidFill>
          </a:ln>
        </p:spPr>
      </p:pic>
      <p:sp>
        <p:nvSpPr>
          <p:cNvPr id="17421" name="Oval 17420"/>
          <p:cNvSpPr/>
          <p:nvPr/>
        </p:nvSpPr>
        <p:spPr>
          <a:xfrm>
            <a:off x="365759" y="363016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320040" y="4681728"/>
            <a:ext cx="1764792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1F3864"/>
                </a:solidFill>
                <a:latin typeface="Arial"/>
              </a:rPr>
              <a:t>Input image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320040" y="4901183"/>
            <a:ext cx="1764792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555E6B"/>
                </a:solidFill>
                <a:latin typeface="Arial"/>
              </a:rPr>
              <a:t>WorldView-2, 0.31 m</a:t>
            </a:r>
          </a:p>
        </p:txBody>
      </p:sp>
      <p:sp>
        <p:nvSpPr>
          <p:cNvPr id="17424" name="Isosceles Triangle 17423"/>
          <p:cNvSpPr/>
          <p:nvPr/>
        </p:nvSpPr>
        <p:spPr>
          <a:xfrm rot="5400000">
            <a:off x="2116836" y="4014215"/>
            <a:ext cx="128016" cy="219456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pic>
        <p:nvPicPr>
          <p:cNvPr id="17425" name="Picture 17424" descr="india_tiles.jpg"/>
          <p:cNvPicPr>
            <a:picLocks noChangeAspect="1"/>
          </p:cNvPicPr>
          <p:nvPr/>
        </p:nvPicPr>
        <p:blipFill>
          <a:blip r:embed="rId6"/>
          <a:srcRect t="19430" b="19430"/>
          <a:stretch>
            <a:fillRect/>
          </a:stretch>
        </p:blipFill>
        <p:spPr>
          <a:xfrm>
            <a:off x="2276856" y="3584448"/>
            <a:ext cx="1764792" cy="1078992"/>
          </a:xfrm>
          <a:prstGeom prst="rect">
            <a:avLst/>
          </a:prstGeom>
          <a:ln w="9525">
            <a:solidFill>
              <a:srgbClr val="C9D6E8"/>
            </a:solidFill>
          </a:ln>
        </p:spPr>
      </p:pic>
      <p:sp>
        <p:nvSpPr>
          <p:cNvPr id="17426" name="Oval 17425"/>
          <p:cNvSpPr/>
          <p:nvPr/>
        </p:nvSpPr>
        <p:spPr>
          <a:xfrm>
            <a:off x="2322576" y="363016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2276856" y="4681728"/>
            <a:ext cx="1764792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1F3864"/>
                </a:solidFill>
                <a:latin typeface="Arial"/>
              </a:rPr>
              <a:t>Tiling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2276856" y="4901183"/>
            <a:ext cx="1764792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555E6B"/>
                </a:solidFill>
                <a:latin typeface="Arial"/>
              </a:rPr>
              <a:t>608 px, 25% overlap</a:t>
            </a:r>
          </a:p>
        </p:txBody>
      </p:sp>
      <p:sp>
        <p:nvSpPr>
          <p:cNvPr id="17429" name="Isosceles Triangle 17428"/>
          <p:cNvSpPr/>
          <p:nvPr/>
        </p:nvSpPr>
        <p:spPr>
          <a:xfrm rot="5400000">
            <a:off x="4073652" y="4014215"/>
            <a:ext cx="128016" cy="219456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pic>
        <p:nvPicPr>
          <p:cNvPr id="17430" name="Picture 17429" descr="india_features.jpg"/>
          <p:cNvPicPr>
            <a:picLocks noChangeAspect="1"/>
          </p:cNvPicPr>
          <p:nvPr/>
        </p:nvPicPr>
        <p:blipFill>
          <a:blip r:embed="rId7"/>
          <a:srcRect t="19430" b="19430"/>
          <a:stretch>
            <a:fillRect/>
          </a:stretch>
        </p:blipFill>
        <p:spPr>
          <a:xfrm>
            <a:off x="4233672" y="3584448"/>
            <a:ext cx="1764792" cy="1078992"/>
          </a:xfrm>
          <a:prstGeom prst="rect">
            <a:avLst/>
          </a:prstGeom>
          <a:ln w="9525">
            <a:solidFill>
              <a:srgbClr val="C9D6E8"/>
            </a:solidFill>
          </a:ln>
        </p:spPr>
      </p:pic>
      <p:sp>
        <p:nvSpPr>
          <p:cNvPr id="17431" name="Oval 17430"/>
          <p:cNvSpPr/>
          <p:nvPr/>
        </p:nvSpPr>
        <p:spPr>
          <a:xfrm>
            <a:off x="4279392" y="363016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233672" y="4681728"/>
            <a:ext cx="1764792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1F3864"/>
                </a:solidFill>
                <a:latin typeface="Arial"/>
              </a:rPr>
              <a:t>What the AI sees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233672" y="4901183"/>
            <a:ext cx="1764792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555E6B"/>
                </a:solidFill>
                <a:latin typeface="Arial"/>
              </a:rPr>
              <a:t>DINOv3-SAT features</a:t>
            </a:r>
          </a:p>
        </p:txBody>
      </p:sp>
      <p:sp>
        <p:nvSpPr>
          <p:cNvPr id="17434" name="Isosceles Triangle 17433"/>
          <p:cNvSpPr/>
          <p:nvPr/>
        </p:nvSpPr>
        <p:spPr>
          <a:xfrm rot="5400000">
            <a:off x="6030468" y="4014215"/>
            <a:ext cx="128016" cy="219456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pic>
        <p:nvPicPr>
          <p:cNvPr id="17435" name="Picture 17434" descr="india_ndsm.jpg"/>
          <p:cNvPicPr>
            <a:picLocks noChangeAspect="1"/>
          </p:cNvPicPr>
          <p:nvPr/>
        </p:nvPicPr>
        <p:blipFill>
          <a:blip r:embed="rId8"/>
          <a:srcRect t="19430" b="19430"/>
          <a:stretch>
            <a:fillRect/>
          </a:stretch>
        </p:blipFill>
        <p:spPr>
          <a:xfrm>
            <a:off x="6190488" y="3584448"/>
            <a:ext cx="1764792" cy="1078992"/>
          </a:xfrm>
          <a:prstGeom prst="rect">
            <a:avLst/>
          </a:prstGeom>
          <a:ln w="9525">
            <a:solidFill>
              <a:srgbClr val="C9D6E8"/>
            </a:solidFill>
          </a:ln>
        </p:spPr>
      </p:pic>
      <p:sp>
        <p:nvSpPr>
          <p:cNvPr id="17436" name="Oval 17435"/>
          <p:cNvSpPr/>
          <p:nvPr/>
        </p:nvSpPr>
        <p:spPr>
          <a:xfrm>
            <a:off x="6236207" y="363016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190488" y="4681728"/>
            <a:ext cx="1764792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1F3864"/>
                </a:solidFill>
                <a:latin typeface="Arial"/>
              </a:rPr>
              <a:t>Heights (nDSM)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6190488" y="4901183"/>
            <a:ext cx="1764792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555E6B"/>
                </a:solidFill>
                <a:latin typeface="Arial"/>
              </a:rPr>
              <a:t>metres above ground</a:t>
            </a:r>
          </a:p>
        </p:txBody>
      </p:sp>
      <p:sp>
        <p:nvSpPr>
          <p:cNvPr id="17439" name="Isosceles Triangle 17438"/>
          <p:cNvSpPr/>
          <p:nvPr/>
        </p:nvSpPr>
        <p:spPr>
          <a:xfrm rot="5400000">
            <a:off x="7987283" y="4014215"/>
            <a:ext cx="128016" cy="219456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pic>
        <p:nvPicPr>
          <p:cNvPr id="17440" name="Picture 17439" descr="india_dsm.jpg"/>
          <p:cNvPicPr>
            <a:picLocks noChangeAspect="1"/>
          </p:cNvPicPr>
          <p:nvPr/>
        </p:nvPicPr>
        <p:blipFill>
          <a:blip r:embed="rId9"/>
          <a:srcRect t="19430" b="19430"/>
          <a:stretch>
            <a:fillRect/>
          </a:stretch>
        </p:blipFill>
        <p:spPr>
          <a:xfrm>
            <a:off x="8147304" y="3584448"/>
            <a:ext cx="1764792" cy="1078992"/>
          </a:xfrm>
          <a:prstGeom prst="rect">
            <a:avLst/>
          </a:prstGeom>
          <a:ln w="9525">
            <a:solidFill>
              <a:srgbClr val="C9D6E8"/>
            </a:solidFill>
          </a:ln>
        </p:spPr>
      </p:pic>
      <p:sp>
        <p:nvSpPr>
          <p:cNvPr id="17441" name="Oval 17440"/>
          <p:cNvSpPr/>
          <p:nvPr/>
        </p:nvSpPr>
        <p:spPr>
          <a:xfrm>
            <a:off x="8193024" y="363016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8147304" y="4681728"/>
            <a:ext cx="1764792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1F3864"/>
                </a:solidFill>
                <a:latin typeface="Arial"/>
              </a:rPr>
              <a:t>+ terrain = DSM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8147304" y="4901183"/>
            <a:ext cx="1764792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555E6B"/>
                </a:solidFill>
                <a:latin typeface="Arial"/>
              </a:rPr>
              <a:t>Copernicus 30 m</a:t>
            </a:r>
          </a:p>
        </p:txBody>
      </p:sp>
      <p:sp>
        <p:nvSpPr>
          <p:cNvPr id="17444" name="Isosceles Triangle 17443"/>
          <p:cNvSpPr/>
          <p:nvPr/>
        </p:nvSpPr>
        <p:spPr>
          <a:xfrm rot="5400000">
            <a:off x="9944100" y="4014215"/>
            <a:ext cx="128016" cy="219456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pic>
        <p:nvPicPr>
          <p:cNvPr id="17445" name="Picture 17444" descr="hero.jpg"/>
          <p:cNvPicPr>
            <a:picLocks noChangeAspect="1"/>
          </p:cNvPicPr>
          <p:nvPr/>
        </p:nvPicPr>
        <p:blipFill>
          <a:blip r:embed="rId10"/>
          <a:srcRect l="3371" r="3371"/>
          <a:stretch>
            <a:fillRect/>
          </a:stretch>
        </p:blipFill>
        <p:spPr>
          <a:xfrm>
            <a:off x="10104120" y="3584448"/>
            <a:ext cx="1764792" cy="1078992"/>
          </a:xfrm>
          <a:prstGeom prst="rect">
            <a:avLst/>
          </a:prstGeom>
          <a:ln w="9525">
            <a:solidFill>
              <a:srgbClr val="C9D6E8"/>
            </a:solidFill>
          </a:ln>
        </p:spPr>
      </p:pic>
      <p:sp>
        <p:nvSpPr>
          <p:cNvPr id="17446" name="Oval 17445"/>
          <p:cNvSpPr/>
          <p:nvPr/>
        </p:nvSpPr>
        <p:spPr>
          <a:xfrm>
            <a:off x="10149840" y="3630168"/>
            <a:ext cx="274320" cy="274320"/>
          </a:xfrm>
          <a:prstGeom prst="ellipse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10104120" y="4681728"/>
            <a:ext cx="1764792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1" i="0">
                <a:solidFill>
                  <a:srgbClr val="1F3864"/>
                </a:solidFill>
                <a:latin typeface="Arial"/>
              </a:rPr>
              <a:t>3D flythrough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10104120" y="4901183"/>
            <a:ext cx="1764792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 i="0">
                <a:solidFill>
                  <a:srgbClr val="555E6B"/>
                </a:solidFill>
                <a:latin typeface="Arial"/>
              </a:rPr>
              <a:t>Three.js, offline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320040" y="521208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00" b="1" i="0">
                <a:solidFill>
                  <a:srgbClr val="1F3864"/>
                </a:solidFill>
                <a:latin typeface="Arial"/>
              </a:rPr>
              <a:t>Python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1281303" y="521208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00" b="1" i="0">
                <a:solidFill>
                  <a:srgbClr val="1F3864"/>
                </a:solidFill>
                <a:latin typeface="Arial"/>
              </a:rPr>
              <a:t>PyTorch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2242566" y="521208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00" b="1" i="0">
                <a:solidFill>
                  <a:srgbClr val="1F3864"/>
                </a:solidFill>
                <a:latin typeface="Arial"/>
              </a:rPr>
              <a:t>DINOv3-SAT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3368421" y="5212080"/>
            <a:ext cx="1353312" cy="292608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00" b="1" i="0">
                <a:solidFill>
                  <a:srgbClr val="1F3864"/>
                </a:solidFill>
                <a:latin typeface="Arial"/>
              </a:rPr>
              <a:t>HF Transformers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4860036" y="5212080"/>
            <a:ext cx="1353312" cy="292608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00" b="1" i="0">
                <a:solidFill>
                  <a:srgbClr val="1F3864"/>
                </a:solidFill>
                <a:latin typeface="Arial"/>
              </a:rPr>
              <a:t>Rasterio · GDAL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6351651" y="5212080"/>
            <a:ext cx="1499616" cy="292608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00" b="1" i="0">
                <a:solidFill>
                  <a:srgbClr val="1F3864"/>
                </a:solidFill>
                <a:latin typeface="Arial"/>
              </a:rPr>
              <a:t>Copernicus GLO-30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7989570" y="5212080"/>
            <a:ext cx="1426464" cy="292608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00" b="1" i="0">
                <a:solidFill>
                  <a:srgbClr val="1F3864"/>
                </a:solidFill>
                <a:latin typeface="Arial"/>
              </a:rPr>
              <a:t>Three.js · WebGL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9554337" y="521208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00" b="1" i="0">
                <a:solidFill>
                  <a:srgbClr val="1F3864"/>
                </a:solidFill>
                <a:latin typeface="Arial"/>
              </a:rPr>
              <a:t>GAMUS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10515600" y="5212080"/>
            <a:ext cx="1353312" cy="292608"/>
          </a:xfrm>
          <a:prstGeom prst="roundRect">
            <a:avLst>
              <a:gd name="adj" fmla="val 50000"/>
            </a:avLst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00" b="1" i="0">
                <a:solidFill>
                  <a:srgbClr val="1F3864"/>
                </a:solidFill>
                <a:latin typeface="Arial"/>
              </a:rPr>
              <a:t>USGS 3DEP LiDAR</a:t>
            </a:r>
          </a:p>
        </p:txBody>
      </p:sp>
      <p:sp>
        <p:nvSpPr>
          <p:cNvPr id="17458" name="Rounded Rectangle 17457"/>
          <p:cNvSpPr/>
          <p:nvPr/>
        </p:nvSpPr>
        <p:spPr>
          <a:xfrm>
            <a:off x="320040" y="5614416"/>
            <a:ext cx="11548872" cy="603504"/>
          </a:xfrm>
          <a:prstGeom prst="roundRect">
            <a:avLst>
              <a:gd name="adj" fmla="val 10000"/>
            </a:avLst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050" b="1" i="0">
                <a:solidFill>
                  <a:srgbClr val="1F3864"/>
                </a:solidFill>
                <a:latin typeface="Arial"/>
              </a:rPr>
              <a:t>TRAINING</a:t>
            </a:r>
            <a:r>
              <a:rPr sz="1050" b="0" i="0">
                <a:solidFill>
                  <a:srgbClr val="1F3864"/>
                </a:solidFill>
                <a:latin typeface="Arial"/>
              </a:rPr>
              <a:t>   GAMUS [3]: 1,500 training, 48 validation and 40 held-out test tiles of aerial RGB with airborne-LiDAR heights  ·  AdamW, masked Huber loss in metres  ·  model chosen on the validation split only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paralla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29184"/>
            <a:ext cx="1965960" cy="548310"/>
          </a:xfrm>
          <a:prstGeom prst="rect">
            <a:avLst/>
          </a:prstGeom>
        </p:spPr>
      </p:pic>
      <p:sp>
        <p:nvSpPr>
          <p:cNvPr id="17411" name="Rectangle 17410"/>
          <p:cNvSpPr/>
          <p:nvPr/>
        </p:nvSpPr>
        <p:spPr>
          <a:xfrm>
            <a:off x="320040" y="1188720"/>
            <a:ext cx="3749039" cy="896112"/>
          </a:xfrm>
          <a:prstGeom prst="rect">
            <a:avLst/>
          </a:prstGeom>
          <a:solidFill>
            <a:srgbClr val="FFFFFF"/>
          </a:solidFill>
          <a:ln w="1587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320040" y="1188720"/>
            <a:ext cx="82296" cy="8961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502920" y="1216152"/>
            <a:ext cx="34747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Working prototype today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502920" y="1517904"/>
            <a:ext cx="3474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55E6B"/>
                </a:solidFill>
                <a:latin typeface="Arial"/>
              </a:rPr>
              <a:t>Upload an image and get a DSM GeoTIFF and a 3D scene in seconds. Covered by 101 automated tests.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4197096" y="1188720"/>
            <a:ext cx="3749039" cy="896112"/>
          </a:xfrm>
          <a:prstGeom prst="rect">
            <a:avLst/>
          </a:prstGeom>
          <a:solidFill>
            <a:srgbClr val="FFFFFF"/>
          </a:solidFill>
          <a:ln w="15875">
            <a:solidFill>
              <a:srgbClr val="138D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16" name="Rectangle 17415"/>
          <p:cNvSpPr/>
          <p:nvPr/>
        </p:nvSpPr>
        <p:spPr>
          <a:xfrm>
            <a:off x="4197096" y="1188720"/>
            <a:ext cx="82296" cy="896112"/>
          </a:xfrm>
          <a:prstGeom prst="rect">
            <a:avLst/>
          </a:prstGeom>
          <a:solidFill>
            <a:srgbClr val="138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4379976" y="1216152"/>
            <a:ext cx="34747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38D75"/>
                </a:solidFill>
                <a:latin typeface="Arial"/>
              </a:rPr>
              <a:t>Checked against real LiDAR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379976" y="1517904"/>
            <a:ext cx="3474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55E6B"/>
                </a:solidFill>
                <a:latin typeface="Arial"/>
              </a:rPr>
              <a:t>40 held-out GAMUS test tiles [3] and 8 USGS airborne-LiDAR sites [8], from towns to hills.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8074152" y="1188720"/>
            <a:ext cx="3749039" cy="896112"/>
          </a:xfrm>
          <a:prstGeom prst="rect">
            <a:avLst/>
          </a:prstGeom>
          <a:solidFill>
            <a:srgbClr val="FFFFFF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20" name="Rectangle 17419"/>
          <p:cNvSpPr/>
          <p:nvPr/>
        </p:nvSpPr>
        <p:spPr>
          <a:xfrm>
            <a:off x="8074152" y="1188720"/>
            <a:ext cx="82296" cy="896112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21" name="TextBox 17420"/>
          <p:cNvSpPr txBox="1"/>
          <p:nvPr/>
        </p:nvSpPr>
        <p:spPr>
          <a:xfrm>
            <a:off x="8257031" y="1216152"/>
            <a:ext cx="34747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E7D32"/>
                </a:solidFill>
                <a:latin typeface="Arial"/>
              </a:rPr>
              <a:t>Low cost, runs offline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8257031" y="1517904"/>
            <a:ext cx="3474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55E6B"/>
                </a:solidFill>
                <a:latin typeface="Arial"/>
              </a:rPr>
              <a:t>A laptop GPU and free data: GAMUS [3] and the Copernicus DEM [7]. No survey flights needed.</a:t>
            </a:r>
          </a:p>
        </p:txBody>
      </p:sp>
      <p:graphicFrame>
        <p:nvGraphicFramePr>
          <p:cNvPr id="17423" name="Chart 17422"/>
          <p:cNvGraphicFramePr>
            <a:graphicFrameLocks noGrp="1"/>
          </p:cNvGraphicFramePr>
          <p:nvPr/>
        </p:nvGraphicFramePr>
        <p:xfrm>
          <a:off x="320040" y="2194560"/>
          <a:ext cx="5669280" cy="201168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7424" name="TextBox 17423"/>
          <p:cNvSpPr txBox="1"/>
          <p:nvPr/>
        </p:nvSpPr>
        <p:spPr>
          <a:xfrm>
            <a:off x="320040" y="4187952"/>
            <a:ext cx="5669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1F3864"/>
                </a:solidFill>
                <a:latin typeface="Arial"/>
              </a:rPr>
              <a:t>Correlation with LiDAR: </a:t>
            </a:r>
            <a:r>
              <a:rPr sz="1000" b="1" i="0">
                <a:solidFill>
                  <a:srgbClr val="1F3864"/>
                </a:solidFill>
                <a:latin typeface="Arial"/>
              </a:rPr>
              <a:t>ours r = 0.81</a:t>
            </a:r>
            <a:r>
              <a:rPr sz="1000" b="0" i="0">
                <a:solidFill>
                  <a:srgbClr val="1F3864"/>
                </a:solidFill>
                <a:latin typeface="Arial"/>
              </a:rPr>
              <a:t>, RS3DAda r = 0.60</a:t>
            </a:r>
          </a:p>
        </p:txBody>
      </p:sp>
      <p:graphicFrame>
        <p:nvGraphicFramePr>
          <p:cNvPr id="17425" name="Chart 17424"/>
          <p:cNvGraphicFramePr>
            <a:graphicFrameLocks noGrp="1"/>
          </p:cNvGraphicFramePr>
          <p:nvPr/>
        </p:nvGraphicFramePr>
        <p:xfrm>
          <a:off x="6199632" y="2194560"/>
          <a:ext cx="5669280" cy="201168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7426" name="TextBox 17425"/>
          <p:cNvSpPr txBox="1"/>
          <p:nvPr/>
        </p:nvSpPr>
        <p:spPr>
          <a:xfrm>
            <a:off x="6199632" y="4187952"/>
            <a:ext cx="56692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1F3864"/>
                </a:solidFill>
                <a:latin typeface="Arial"/>
              </a:rPr>
              <a:t>Whole pipeline, GeoTIFF in → DSM out, on 8 USGS sites</a:t>
            </a:r>
          </a:p>
        </p:txBody>
      </p:sp>
      <p:graphicFrame>
        <p:nvGraphicFramePr>
          <p:cNvPr id="17427" name="Table 17426"/>
          <p:cNvGraphicFramePr>
            <a:graphicFrameLocks noGrp="1"/>
          </p:cNvGraphicFramePr>
          <p:nvPr/>
        </p:nvGraphicFramePr>
        <p:xfrm>
          <a:off x="320040" y="4526280"/>
          <a:ext cx="11548872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708392"/>
              </a:tblGrid>
              <a:tr h="301752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Mitigation</a:t>
                      </a:r>
                    </a:p>
                  </a:txBody>
                  <a:tcPr marL="73152" marR="73152" marT="27432" marB="27432" anchor="ctr">
                    <a:solidFill>
                      <a:srgbClr val="0070C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1C1C"/>
                          </a:solidFill>
                          <a:latin typeface="Arial"/>
                        </a:rPr>
                        <a:t>Very tall towers and dense forest canopy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1C1C"/>
                          </a:solidFill>
                          <a:latin typeface="Arial"/>
                        </a:rPr>
                        <a:t>More tall-building and forest tiles in training; per-landscape scores tracked on every run.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1C1C"/>
                          </a:solidFill>
                          <a:latin typeface="Arial"/>
                        </a:rPr>
                        <a:t>New sensors and regions (ISRO imagery)</a:t>
                      </a:r>
                    </a:p>
                  </a:txBody>
                  <a:tcPr marL="73152" marR="73152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1C1C"/>
                          </a:solidFill>
                          <a:latin typeface="Arial"/>
                        </a:rPr>
                        <a:t>Pixel size normalised (0.3–1 m tested); the built-in reference check scores and calibrates on ISRO data.</a:t>
                      </a:r>
                    </a:p>
                  </a:txBody>
                  <a:tcPr marL="73152" marR="73152" marT="27432" marB="27432" anchor="ctr">
                    <a:solidFill>
                      <a:srgbClr val="EEF3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1C1C"/>
                          </a:solidFill>
                          <a:latin typeface="Arial"/>
                        </a:rPr>
                        <a:t>Absolute scale from a single image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1C1C"/>
                          </a:solidFill>
                          <a:latin typeface="Arial"/>
                        </a:rPr>
                        <a:t>Metric training on LiDAR heights, DEM / SRTM fusion, GCPs and reference-based calibration.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1C1C"/>
                          </a:solidFill>
                          <a:latin typeface="Arial"/>
                        </a:rPr>
                        <a:t>Angled (oblique) photos</a:t>
                      </a:r>
                    </a:p>
                  </a:txBody>
                  <a:tcPr marL="73152" marR="73152" marT="27432" marB="27432" anchor="ctr"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C1C1C"/>
                          </a:solidFill>
                          <a:latin typeface="Arial"/>
                        </a:rPr>
                        <a:t>Built for top-down satellite and aerial imagery, as the problem statement specifies.</a:t>
                      </a:r>
                    </a:p>
                  </a:txBody>
                  <a:tcPr marL="73152" marR="73152" marT="27432" marB="27432" anchor="ctr"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paralla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29184"/>
            <a:ext cx="1965960" cy="548310"/>
          </a:xfrm>
          <a:prstGeom prst="rect">
            <a:avLst/>
          </a:prstGeom>
        </p:spPr>
      </p:pic>
      <p:sp>
        <p:nvSpPr>
          <p:cNvPr id="17411" name="Rectangle 17410"/>
          <p:cNvSpPr/>
          <p:nvPr/>
        </p:nvSpPr>
        <p:spPr>
          <a:xfrm>
            <a:off x="320040" y="1197864"/>
            <a:ext cx="73152" cy="2743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48056" y="1152144"/>
            <a:ext cx="5486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0070C0"/>
                </a:solidFill>
                <a:latin typeface="Arial"/>
              </a:rPr>
              <a:t>WHO IT HELPS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1536192"/>
            <a:ext cx="3749039" cy="2395728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pic>
        <p:nvPicPr>
          <p:cNvPr id="17414" name="Picture 17413" descr="india_04_flood.jpg"/>
          <p:cNvPicPr>
            <a:picLocks noChangeAspect="1"/>
          </p:cNvPicPr>
          <p:nvPr/>
        </p:nvPicPr>
        <p:blipFill>
          <a:blip r:embed="rId5"/>
          <a:srcRect t="8595" b="8595"/>
          <a:stretch>
            <a:fillRect/>
          </a:stretch>
        </p:blipFill>
        <p:spPr>
          <a:xfrm>
            <a:off x="411479" y="1627632"/>
            <a:ext cx="3566160" cy="1371600"/>
          </a:xfrm>
          <a:prstGeom prst="rect">
            <a:avLst/>
          </a:prstGeom>
          <a:ln w="9525">
            <a:solidFill>
              <a:srgbClr val="C9D6E8"/>
            </a:solidFill>
          </a:ln>
        </p:spPr>
      </p:pic>
      <p:sp>
        <p:nvSpPr>
          <p:cNvPr id="17415" name="TextBox 17414"/>
          <p:cNvSpPr txBox="1"/>
          <p:nvPr/>
        </p:nvSpPr>
        <p:spPr>
          <a:xfrm>
            <a:off x="457200" y="3035808"/>
            <a:ext cx="35204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Disaster management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57200" y="3319272"/>
            <a:ext cx="352044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C1C1C"/>
                </a:solidFill>
                <a:latin typeface="Arial"/>
              </a:rPr>
              <a:t>Flood and landslide screening from one image. In Chungthang [9], a 36 m river rise reaches 12 of 204 buildings.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197096" y="1536192"/>
            <a:ext cx="3749039" cy="2395728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pic>
        <p:nvPicPr>
          <p:cNvPr id="17418" name="Picture 17417" descr="india_03_buildings_floors.jpg"/>
          <p:cNvPicPr>
            <a:picLocks noChangeAspect="1"/>
          </p:cNvPicPr>
          <p:nvPr/>
        </p:nvPicPr>
        <p:blipFill>
          <a:blip r:embed="rId6"/>
          <a:srcRect t="8595" b="8595"/>
          <a:stretch>
            <a:fillRect/>
          </a:stretch>
        </p:blipFill>
        <p:spPr>
          <a:xfrm>
            <a:off x="4288536" y="1627632"/>
            <a:ext cx="3566160" cy="1371600"/>
          </a:xfrm>
          <a:prstGeom prst="rect">
            <a:avLst/>
          </a:prstGeom>
          <a:ln w="9525">
            <a:solidFill>
              <a:srgbClr val="C9D6E8"/>
            </a:solidFill>
          </a:ln>
        </p:spPr>
      </p:pic>
      <p:sp>
        <p:nvSpPr>
          <p:cNvPr id="17419" name="TextBox 17418"/>
          <p:cNvSpPr txBox="1"/>
          <p:nvPr/>
        </p:nvSpPr>
        <p:spPr>
          <a:xfrm>
            <a:off x="4334256" y="3035808"/>
            <a:ext cx="35204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Urban planning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334256" y="3319272"/>
            <a:ext cx="352044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C1C1C"/>
                </a:solidFill>
                <a:latin typeface="Arial"/>
              </a:rPr>
              <a:t>Building heights and floor estimates, slopes and contours for growth, drainage and rooftop planning.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8074152" y="1536192"/>
            <a:ext cx="3749039" cy="2395728"/>
          </a:xfrm>
          <a:prstGeom prst="roundRect">
            <a:avLst>
              <a:gd name="adj" fmla="val 4000"/>
            </a:avLst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pic>
        <p:nvPicPr>
          <p:cNvPr id="17422" name="Picture 17421" descr="hero.jpg"/>
          <p:cNvPicPr>
            <a:picLocks noChangeAspect="1"/>
          </p:cNvPicPr>
          <p:nvPr/>
        </p:nvPicPr>
        <p:blipFill>
          <a:blip r:embed="rId7"/>
          <a:srcRect t="16272" b="16272"/>
          <a:stretch>
            <a:fillRect/>
          </a:stretch>
        </p:blipFill>
        <p:spPr>
          <a:xfrm>
            <a:off x="8165592" y="1627632"/>
            <a:ext cx="3566160" cy="1371600"/>
          </a:xfrm>
          <a:prstGeom prst="rect">
            <a:avLst/>
          </a:prstGeom>
          <a:ln w="9525">
            <a:solidFill>
              <a:srgbClr val="C9D6E8"/>
            </a:solidFill>
          </a:ln>
        </p:spPr>
      </p:pic>
      <p:sp>
        <p:nvSpPr>
          <p:cNvPr id="17423" name="TextBox 17422"/>
          <p:cNvSpPr txBox="1"/>
          <p:nvPr/>
        </p:nvSpPr>
        <p:spPr>
          <a:xfrm>
            <a:off x="8211312" y="3035808"/>
            <a:ext cx="352044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Remote and border areas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8211312" y="3319272"/>
            <a:ext cx="3520440" cy="60350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1C1C1C"/>
                </a:solidFill>
                <a:latin typeface="Arial"/>
              </a:rPr>
              <a:t>Terrain where no LiDAR exists, such as Himalayan towns, for relief and mission planning.</a:t>
            </a:r>
          </a:p>
        </p:txBody>
      </p:sp>
      <p:sp>
        <p:nvSpPr>
          <p:cNvPr id="17425" name="Rectangle 17424"/>
          <p:cNvSpPr/>
          <p:nvPr/>
        </p:nvSpPr>
        <p:spPr>
          <a:xfrm>
            <a:off x="320040" y="4069080"/>
            <a:ext cx="73152" cy="2743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26" name="TextBox 17425"/>
          <p:cNvSpPr txBox="1"/>
          <p:nvPr/>
        </p:nvSpPr>
        <p:spPr>
          <a:xfrm>
            <a:off x="448056" y="4023360"/>
            <a:ext cx="5486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0070C0"/>
                </a:solidFill>
                <a:latin typeface="Arial"/>
              </a:rPr>
              <a:t>BENEFITS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20040" y="4389120"/>
            <a:ext cx="2807208" cy="1170432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ECONOMIC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No survey flight: uses imagery already collected and a free 30 m terrain map.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3236976" y="4389120"/>
            <a:ext cx="2807208" cy="117043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SOCIAL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Faster hazard maps for places that have never been surveyed.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6153912" y="4389120"/>
            <a:ext cx="2807208" cy="1170432"/>
          </a:xfrm>
          <a:prstGeom prst="roundRect">
            <a:avLst>
              <a:gd name="adj" fmla="val 12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ENVIRONMENTAL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No extra aircraft or drone flights.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9070848" y="4389120"/>
            <a:ext cx="2807208" cy="117043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OPERATIONAL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Arial"/>
              </a:rPr>
              <a:t>Offline on a laptop in seconds; standard GeoTIFF for existing GIS tools.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320040" y="5650992"/>
            <a:ext cx="11548872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 i="1">
                <a:solidFill>
                  <a:srgbClr val="1F3864"/>
                </a:solidFill>
                <a:latin typeface="Arial"/>
              </a:rPr>
              <a:t>“ParallaX turns images India already collects into measured 3D terrain in seconds, and shows its own error against LiDAR.”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paralla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29184"/>
            <a:ext cx="1965960" cy="548310"/>
          </a:xfrm>
          <a:prstGeom prst="rect">
            <a:avLst/>
          </a:prstGeom>
        </p:spPr>
      </p:pic>
      <p:sp>
        <p:nvSpPr>
          <p:cNvPr id="17411" name="Rectangle 17410"/>
          <p:cNvSpPr/>
          <p:nvPr/>
        </p:nvSpPr>
        <p:spPr>
          <a:xfrm>
            <a:off x="320040" y="1188720"/>
            <a:ext cx="5715000" cy="768096"/>
          </a:xfrm>
          <a:prstGeom prst="rect">
            <a:avLst/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12" name="Rectangle 17411"/>
          <p:cNvSpPr/>
          <p:nvPr/>
        </p:nvSpPr>
        <p:spPr>
          <a:xfrm>
            <a:off x="320040" y="1188720"/>
            <a:ext cx="502920" cy="7680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914400" y="1243584"/>
            <a:ext cx="5029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India flood losses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914400" y="1517904"/>
            <a:ext cx="50292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5E6B"/>
                </a:solidFill>
                <a:latin typeface="Arial"/>
              </a:rPr>
              <a:t>UNISDR Global Assessment Report 2015: India AAL ≈ USD 9.8 bn/yr, floods USD 7.4 bn.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6153912" y="1188720"/>
            <a:ext cx="5715000" cy="768096"/>
          </a:xfrm>
          <a:prstGeom prst="rect">
            <a:avLst/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16" name="Rectangle 17415"/>
          <p:cNvSpPr/>
          <p:nvPr/>
        </p:nvSpPr>
        <p:spPr>
          <a:xfrm>
            <a:off x="6153912" y="1188720"/>
            <a:ext cx="502920" cy="7680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748272" y="1243584"/>
            <a:ext cx="5029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Elevation survey cost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748272" y="1517904"/>
            <a:ext cx="50292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5E6B"/>
                </a:solidFill>
                <a:latin typeface="Arial"/>
              </a:rPr>
              <a:t>Kapcher / Candrone: LiDAR survey $5k–$100k+; Drone Launch Academy: survey-grade LiDAR over $100k.</a:t>
            </a:r>
          </a:p>
        </p:txBody>
      </p:sp>
      <p:sp>
        <p:nvSpPr>
          <p:cNvPr id="17419" name="Rectangle 17418"/>
          <p:cNvSpPr/>
          <p:nvPr/>
        </p:nvSpPr>
        <p:spPr>
          <a:xfrm>
            <a:off x="320040" y="2034540"/>
            <a:ext cx="5715000" cy="768096"/>
          </a:xfrm>
          <a:prstGeom prst="rect">
            <a:avLst/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20" name="Rectangle 17419"/>
          <p:cNvSpPr/>
          <p:nvPr/>
        </p:nvSpPr>
        <p:spPr>
          <a:xfrm>
            <a:off x="320040" y="2034540"/>
            <a:ext cx="502920" cy="7680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914400" y="2089404"/>
            <a:ext cx="5029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GAMUS dataset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14400" y="2363724"/>
            <a:ext cx="50292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5E6B"/>
                </a:solidFill>
                <a:latin typeface="Arial"/>
              </a:rPr>
              <a:t>Xiong et al., “GAMUS: Geometry-aware Multi-modal Semantic Segmentation Benchmark”, arXiv:2305.14914.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6153912" y="2034540"/>
            <a:ext cx="5715000" cy="768096"/>
          </a:xfrm>
          <a:prstGeom prst="rect">
            <a:avLst/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24" name="Rectangle 17423"/>
          <p:cNvSpPr/>
          <p:nvPr/>
        </p:nvSpPr>
        <p:spPr>
          <a:xfrm>
            <a:off x="6153912" y="2034540"/>
            <a:ext cx="502920" cy="7680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748272" y="2089404"/>
            <a:ext cx="5029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DINOv3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6748272" y="2363724"/>
            <a:ext cx="50292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5E6B"/>
                </a:solidFill>
                <a:latin typeface="Arial"/>
              </a:rPr>
              <a:t>Meta AI, 2025: self-supervised vision model; SAT-493M satellite weights (our frozen encoder).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320040" y="2880360"/>
            <a:ext cx="5715000" cy="768096"/>
          </a:xfrm>
          <a:prstGeom prst="rect">
            <a:avLst/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28" name="Rectangle 17427"/>
          <p:cNvSpPr/>
          <p:nvPr/>
        </p:nvSpPr>
        <p:spPr>
          <a:xfrm>
            <a:off x="320040" y="2880360"/>
            <a:ext cx="502920" cy="7680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914400" y="2935224"/>
            <a:ext cx="5029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DPT head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914400" y="3209544"/>
            <a:ext cx="50292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5E6B"/>
                </a:solidFill>
                <a:latin typeface="Arial"/>
              </a:rPr>
              <a:t>Ranftl et al., “Vision Transformers for Dense Prediction”, ICCV 2021.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6153912" y="2880360"/>
            <a:ext cx="5715000" cy="768096"/>
          </a:xfrm>
          <a:prstGeom prst="rect">
            <a:avLst/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32" name="Rectangle 17431"/>
          <p:cNvSpPr/>
          <p:nvPr/>
        </p:nvSpPr>
        <p:spPr>
          <a:xfrm>
            <a:off x="6153912" y="2880360"/>
            <a:ext cx="502920" cy="7680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748272" y="2935224"/>
            <a:ext cx="5029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RS3DAda baseline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6748272" y="3209544"/>
            <a:ext cx="50292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5E6B"/>
                </a:solidFill>
                <a:latin typeface="Arial"/>
              </a:rPr>
              <a:t>Song et al., “SynRS3D”, NeurIPS 2024, arXiv:2406.18151: public weights, run by us.</a:t>
            </a:r>
          </a:p>
        </p:txBody>
      </p:sp>
      <p:sp>
        <p:nvSpPr>
          <p:cNvPr id="17435" name="Rectangle 17434"/>
          <p:cNvSpPr/>
          <p:nvPr/>
        </p:nvSpPr>
        <p:spPr>
          <a:xfrm>
            <a:off x="320040" y="3726180"/>
            <a:ext cx="5715000" cy="768096"/>
          </a:xfrm>
          <a:prstGeom prst="rect">
            <a:avLst/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36" name="Rectangle 17435"/>
          <p:cNvSpPr/>
          <p:nvPr/>
        </p:nvSpPr>
        <p:spPr>
          <a:xfrm>
            <a:off x="320040" y="3726180"/>
            <a:ext cx="502920" cy="7680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914400" y="3781044"/>
            <a:ext cx="5029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Terrain map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914400" y="4055364"/>
            <a:ext cx="50292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5E6B"/>
                </a:solidFill>
                <a:latin typeface="Arial"/>
              </a:rPr>
              <a:t>Copernicus DEM GLO-30 (ESA / Airbus), 30 m; SRTM 30 m also supported.</a:t>
            </a:r>
          </a:p>
        </p:txBody>
      </p:sp>
      <p:sp>
        <p:nvSpPr>
          <p:cNvPr id="17439" name="Rectangle 17438"/>
          <p:cNvSpPr/>
          <p:nvPr/>
        </p:nvSpPr>
        <p:spPr>
          <a:xfrm>
            <a:off x="6153912" y="3726180"/>
            <a:ext cx="5715000" cy="768096"/>
          </a:xfrm>
          <a:prstGeom prst="rect">
            <a:avLst/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40" name="Rectangle 17439"/>
          <p:cNvSpPr/>
          <p:nvPr/>
        </p:nvSpPr>
        <p:spPr>
          <a:xfrm>
            <a:off x="6153912" y="3726180"/>
            <a:ext cx="502920" cy="7680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6748272" y="3781044"/>
            <a:ext cx="5029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Independent LiDAR check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6748272" y="4055364"/>
            <a:ext cx="50292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5E6B"/>
                </a:solidFill>
                <a:latin typeface="Arial"/>
              </a:rPr>
              <a:t>USGS 3D Elevation Program airborne LiDAR + USDA NAIP imagery (public domain).</a:t>
            </a:r>
          </a:p>
        </p:txBody>
      </p:sp>
      <p:sp>
        <p:nvSpPr>
          <p:cNvPr id="17443" name="Rectangle 17442"/>
          <p:cNvSpPr/>
          <p:nvPr/>
        </p:nvSpPr>
        <p:spPr>
          <a:xfrm>
            <a:off x="320040" y="4572000"/>
            <a:ext cx="5715000" cy="768096"/>
          </a:xfrm>
          <a:prstGeom prst="rect">
            <a:avLst/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44" name="Rectangle 17443"/>
          <p:cNvSpPr/>
          <p:nvPr/>
        </p:nvSpPr>
        <p:spPr>
          <a:xfrm>
            <a:off x="320040" y="4572000"/>
            <a:ext cx="502920" cy="7680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914400" y="4626864"/>
            <a:ext cx="5029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Indian test image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914400" y="4901184"/>
            <a:ext cx="50292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5E6B"/>
                </a:solidFill>
                <a:latin typeface="Arial"/>
              </a:rPr>
              <a:t>Maxar Open Data Program, WorldView-2, Chungthang, Sikkim (CC BY-NC 4.0).</a:t>
            </a:r>
          </a:p>
        </p:txBody>
      </p:sp>
      <p:sp>
        <p:nvSpPr>
          <p:cNvPr id="17447" name="Rectangle 17446"/>
          <p:cNvSpPr/>
          <p:nvPr/>
        </p:nvSpPr>
        <p:spPr>
          <a:xfrm>
            <a:off x="6153912" y="4572000"/>
            <a:ext cx="5715000" cy="768096"/>
          </a:xfrm>
          <a:prstGeom prst="rect">
            <a:avLst/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48" name="Rectangle 17447"/>
          <p:cNvSpPr/>
          <p:nvPr/>
        </p:nvSpPr>
        <p:spPr>
          <a:xfrm>
            <a:off x="6153912" y="4572000"/>
            <a:ext cx="502920" cy="7680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748272" y="4626864"/>
            <a:ext cx="5029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Rendering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6748272" y="4901184"/>
            <a:ext cx="50292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5E6B"/>
                </a:solidFill>
                <a:latin typeface="Arial"/>
              </a:rPr>
              <a:t>Three.js: WebGL library for the interactive 3D flythrough, bundled for offline use.</a:t>
            </a:r>
          </a:p>
        </p:txBody>
      </p:sp>
      <p:sp>
        <p:nvSpPr>
          <p:cNvPr id="17451" name="Rectangle 17450"/>
          <p:cNvSpPr/>
          <p:nvPr/>
        </p:nvSpPr>
        <p:spPr>
          <a:xfrm>
            <a:off x="320040" y="5417820"/>
            <a:ext cx="5715000" cy="768096"/>
          </a:xfrm>
          <a:prstGeom prst="rect">
            <a:avLst/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52" name="Rectangle 17451"/>
          <p:cNvSpPr/>
          <p:nvPr/>
        </p:nvSpPr>
        <p:spPr>
          <a:xfrm>
            <a:off x="320040" y="5417820"/>
            <a:ext cx="502920" cy="7680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914400" y="5472683"/>
            <a:ext cx="5029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Problem statement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914400" y="5747004"/>
            <a:ext cx="50292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5E6B"/>
                </a:solidFill>
                <a:latin typeface="Arial"/>
              </a:rPr>
              <a:t>ISRO SAC, SIH 2026 PS 26175; github.com/IMG-PROCESS-SAC/SIH-DepthWizard-2026</a:t>
            </a:r>
          </a:p>
        </p:txBody>
      </p:sp>
      <p:sp>
        <p:nvSpPr>
          <p:cNvPr id="17455" name="Rectangle 17454"/>
          <p:cNvSpPr/>
          <p:nvPr/>
        </p:nvSpPr>
        <p:spPr>
          <a:xfrm>
            <a:off x="6153912" y="5417820"/>
            <a:ext cx="5715000" cy="768096"/>
          </a:xfrm>
          <a:prstGeom prst="rect">
            <a:avLst/>
          </a:prstGeom>
          <a:solidFill>
            <a:srgbClr val="EEF3FA"/>
          </a:solidFill>
          <a:ln w="12700">
            <a:solidFill>
              <a:srgbClr val="C9D6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/>
          <a:lstStyle/>
          <a:p>
            <a:pPr algn="ctr"/>
          </a:p>
        </p:txBody>
      </p:sp>
      <p:sp>
        <p:nvSpPr>
          <p:cNvPr id="17456" name="Rectangle 17455"/>
          <p:cNvSpPr/>
          <p:nvPr/>
        </p:nvSpPr>
        <p:spPr>
          <a:xfrm>
            <a:off x="6153912" y="5417820"/>
            <a:ext cx="502920" cy="7680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/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6748272" y="5472683"/>
            <a:ext cx="5029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F3864"/>
                </a:solidFill>
                <a:latin typeface="Arial"/>
              </a:rPr>
              <a:t>Our code and results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6748272" y="5747004"/>
            <a:ext cx="5029200" cy="43891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i="0">
                <a:solidFill>
                  <a:srgbClr val="555E6B"/>
                </a:solidFill>
                <a:latin typeface="Arial"/>
              </a:rPr>
              <a:t>github.com/AHSharan/SIH2026PS175: RESULTS.md, results/lidar_benchmark.md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