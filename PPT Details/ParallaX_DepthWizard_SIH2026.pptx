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3864"/>
                </a:solidFill>
                <a:latin typeface="Arial"/>
              </a:rPr>
              <a:t>Height error on 40 held-out LiDAR tiles (RMSE, 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 0 m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Sheet1!$A$2:$A$5</c:f>
              <c:strCache>
                <c:ptCount val="4"/>
                <c:pt idx="0">
                  <c:v>Urban</c:v>
                </c:pt>
                <c:pt idx="1">
                  <c:v>Sparse</c:v>
                </c:pt>
                <c:pt idx="2">
                  <c:v>Forest</c:v>
                </c:pt>
                <c:pt idx="3">
                  <c:v>Overall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8.81</c:v>
                </c:pt>
                <c:pt idx="1">
                  <c:v>4.21</c:v>
                </c:pt>
                <c:pt idx="2">
                  <c:v>13.66</c:v>
                </c:pt>
                <c:pt idx="3">
                  <c:v>9.35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RS3DAda (run by us)</c:v>
                </c:pt>
              </c:strCache>
            </c:strRef>
          </c:tx>
          <c:spPr>
            <a:solidFill>
              <a:srgbClr val="7C8EA8"/>
            </a:solidFill>
          </c:spPr>
          <c:cat>
            <c:strRef>
              <c:f>Sheet1!$A$2:$A$5</c:f>
              <c:strCache>
                <c:ptCount val="4"/>
                <c:pt idx="0">
                  <c:v>Urban</c:v>
                </c:pt>
                <c:pt idx="1">
                  <c:v>Sparse</c:v>
                </c:pt>
                <c:pt idx="2">
                  <c:v>Forest</c:v>
                </c:pt>
                <c:pt idx="3">
                  <c:v>Overall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5.11</c:v>
                </c:pt>
                <c:pt idx="1">
                  <c:v>2.83</c:v>
                </c:pt>
                <c:pt idx="2">
                  <c:v>11.87</c:v>
                </c:pt>
                <c:pt idx="3">
                  <c:v>6.74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Urban</c:v>
                </c:pt>
                <c:pt idx="1">
                  <c:v>Sparse</c:v>
                </c:pt>
                <c:pt idx="2">
                  <c:v>Forest</c:v>
                </c:pt>
                <c:pt idx="3">
                  <c:v>Overall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5.28</c:v>
                </c:pt>
                <c:pt idx="1">
                  <c:v>2.15</c:v>
                </c:pt>
                <c:pt idx="2">
                  <c:v>5.91</c:v>
                </c:pt>
                <c:pt idx="3">
                  <c:v>4.96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3864"/>
                </a:solidFill>
                <a:latin typeface="Arial"/>
              </a:rPr>
              <a:t>Full elevation model vs airborne LiDAR (RMSE, 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Terrain map alone</c:v>
                </c:pt>
              </c:strCache>
            </c:strRef>
          </c:tx>
          <c:spPr>
            <a:solidFill>
              <a:srgbClr val="9FB6CD"/>
            </a:solidFill>
          </c:spPr>
          <c:cat>
            <c:strRef>
              <c:f>Sheet1!$A$2:$A$5</c:f>
              <c:strCache>
                <c:ptCount val="4"/>
                <c:pt idx="0">
                  <c:v>Residential</c:v>
                </c:pt>
                <c:pt idx="1">
                  <c:v>Sparse</c:v>
                </c:pt>
                <c:pt idx="2">
                  <c:v>Hilly</c:v>
                </c:pt>
                <c:pt idx="3">
                  <c:v>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6.95</c:v>
                </c:pt>
                <c:pt idx="1">
                  <c:v>4.99</c:v>
                </c:pt>
                <c:pt idx="2">
                  <c:v>5.88</c:v>
                </c:pt>
                <c:pt idx="3">
                  <c:v>8.43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Ours: terrain + model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Residential</c:v>
                </c:pt>
                <c:pt idx="1">
                  <c:v>Sparse</c:v>
                </c:pt>
                <c:pt idx="2">
                  <c:v>Hilly</c:v>
                </c:pt>
                <c:pt idx="3">
                  <c:v>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3.57</c:v>
                </c:pt>
                <c:pt idx="2">
                  <c:v>3.84</c:v>
                </c:pt>
                <c:pt idx="3">
                  <c:v>7.95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4.jpg"/><Relationship Id="rId11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anchor="ctr"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ONE IMAGE → 3D TERRAIN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parall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1965960" cy="548310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320040" y="1234440"/>
            <a:ext cx="73152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448056" y="1188720"/>
            <a:ext cx="374903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THE PROBLEM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65760" y="1600200"/>
            <a:ext cx="370332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50" b="0" i="0">
                <a:solidFill>
                  <a:srgbClr val="1C1C1C"/>
                </a:solidFill>
                <a:latin typeface="Arial"/>
              </a:rPr>
              <a:t>India loses about </a:t>
            </a:r>
            <a:r>
              <a:rPr sz="1250" b="1" i="0">
                <a:solidFill>
                  <a:srgbClr val="1C1C1C"/>
                </a:solidFill>
                <a:latin typeface="Arial"/>
              </a:rPr>
              <a:t>USD 7.4 billion a year to floods</a:t>
            </a:r>
            <a:r>
              <a:rPr sz="1250" b="0" i="0">
                <a:solidFill>
                  <a:srgbClr val="1C1C1C"/>
                </a:solidFill>
                <a:latin typeface="Arial"/>
              </a:rPr>
              <a:t> alone. [1]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50" b="0" i="0">
                <a:solidFill>
                  <a:srgbClr val="1C1C1C"/>
                </a:solidFill>
                <a:latin typeface="Arial"/>
              </a:rPr>
              <a:t>Flood and landslide maps need an elevation model, but today that means </a:t>
            </a:r>
            <a:r>
              <a:rPr sz="1250" b="1" i="0">
                <a:solidFill>
                  <a:srgbClr val="1C1C1C"/>
                </a:solidFill>
                <a:latin typeface="Arial"/>
              </a:rPr>
              <a:t>LiDAR, stereo or radar</a:t>
            </a:r>
            <a:r>
              <a:rPr sz="1250" b="0" i="0">
                <a:solidFill>
                  <a:srgbClr val="1C1C1C"/>
                </a:solidFill>
                <a:latin typeface="Arial"/>
              </a:rPr>
              <a:t>: $5k–$100k+ per survey and days of flying. [2]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50" b="0" i="0">
                <a:solidFill>
                  <a:srgbClr val="1C1C1C"/>
                </a:solidFill>
                <a:latin typeface="Arial"/>
              </a:rPr>
              <a:t>AI depth models give only </a:t>
            </a:r>
            <a:r>
              <a:rPr sz="1250" b="1" i="0">
                <a:solidFill>
                  <a:srgbClr val="1C1C1C"/>
                </a:solidFill>
                <a:latin typeface="Arial"/>
              </a:rPr>
              <a:t>relative depth</a:t>
            </a:r>
            <a:r>
              <a:rPr sz="1250" b="0" i="0">
                <a:solidFill>
                  <a:srgbClr val="1C1C1C"/>
                </a:solidFill>
                <a:latin typeface="Arial"/>
              </a:rPr>
              <a:t> from a photo, not real metres.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4251960" y="1234440"/>
            <a:ext cx="7315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379976" y="1188720"/>
            <a:ext cx="3749039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70C0"/>
                </a:solidFill>
                <a:latin typeface="Arial"/>
              </a:rPr>
              <a:t>OUR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297680" y="1600200"/>
            <a:ext cx="3749039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00" b="1" i="0">
                <a:solidFill>
                  <a:srgbClr val="1C1C1C"/>
                </a:solidFill>
                <a:latin typeface="Arial"/>
              </a:rPr>
              <a:t>One satellite or aerial image in, a metric elevation model out</a:t>
            </a:r>
            <a:r>
              <a:rPr sz="1200" b="0" i="0">
                <a:solidFill>
                  <a:srgbClr val="1C1C1C"/>
                </a:solidFill>
                <a:latin typeface="Arial"/>
              </a:rPr>
              <a:t>: a DSM GeoTIFF and a 3D scene you can fly through.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00" b="0" i="0">
                <a:solidFill>
                  <a:srgbClr val="1C1C1C"/>
                </a:solidFill>
                <a:latin typeface="Arial"/>
              </a:rPr>
              <a:t>Our model reads </a:t>
            </a:r>
            <a:r>
              <a:rPr sz="1200" b="1" i="0">
                <a:solidFill>
                  <a:srgbClr val="1C1C1C"/>
                </a:solidFill>
                <a:latin typeface="Arial"/>
              </a:rPr>
              <a:t>height above ground in metres</a:t>
            </a:r>
            <a:r>
              <a:rPr sz="1200" b="0" i="0">
                <a:solidFill>
                  <a:srgbClr val="1C1C1C"/>
                </a:solidFill>
                <a:latin typeface="Arial"/>
              </a:rPr>
              <a:t> straight from the photo; a free 30 m terrain map adds the ground.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00" b="0" i="0">
                <a:solidFill>
                  <a:srgbClr val="1C1C1C"/>
                </a:solidFill>
                <a:latin typeface="Arial"/>
              </a:rPr>
              <a:t>GeoTIFF → absolute DSM · PNG/JPG → relative DSM · 3 map points place a plain image.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70C0"/>
                </a:solidFill>
                <a:latin typeface="Arial"/>
              </a:rPr>
              <a:t>▪ </a:t>
            </a:r>
            <a:r>
              <a:rPr sz="1200" b="0" i="0">
                <a:solidFill>
                  <a:srgbClr val="1C1C1C"/>
                </a:solidFill>
                <a:latin typeface="Arial"/>
              </a:rPr>
              <a:t>It </a:t>
            </a:r>
            <a:r>
              <a:rPr sz="1200" b="1" i="0">
                <a:solidFill>
                  <a:srgbClr val="1C1C1C"/>
                </a:solidFill>
                <a:latin typeface="Arial"/>
              </a:rPr>
              <a:t>checks itself</a:t>
            </a:r>
            <a:r>
              <a:rPr sz="1200" b="0" i="0">
                <a:solidFill>
                  <a:srgbClr val="1C1C1C"/>
                </a:solidFill>
                <a:latin typeface="Arial"/>
              </a:rPr>
              <a:t>: drop in LiDAR or any reference and see the error map.</a:t>
            </a:r>
          </a:p>
        </p:txBody>
      </p:sp>
      <p:pic>
        <p:nvPicPr>
          <p:cNvPr id="15369" name="Picture 15368" descr="hero.jpg"/>
          <p:cNvPicPr>
            <a:picLocks noChangeAspect="1"/>
          </p:cNvPicPr>
          <p:nvPr/>
        </p:nvPicPr>
        <p:blipFill>
          <a:blip r:embed="rId5"/>
          <a:srcRect t="15" b="15"/>
          <a:stretch>
            <a:fillRect/>
          </a:stretch>
        </p:blipFill>
        <p:spPr>
          <a:xfrm>
            <a:off x="8211312" y="1243584"/>
            <a:ext cx="3657600" cy="2084831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5370" name="TextBox 15369"/>
          <p:cNvSpPr txBox="1"/>
          <p:nvPr/>
        </p:nvSpPr>
        <p:spPr>
          <a:xfrm>
            <a:off x="8211312" y="334670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E6B"/>
                </a:solidFill>
                <a:latin typeface="Arial"/>
              </a:rPr>
              <a:t>Our output: Chungthang, Sikkim, from one WorldView-2 image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320040" y="3730752"/>
            <a:ext cx="2807208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72" name="Rectangle 15371"/>
          <p:cNvSpPr/>
          <p:nvPr/>
        </p:nvSpPr>
        <p:spPr>
          <a:xfrm>
            <a:off x="320040" y="3730752"/>
            <a:ext cx="82296" cy="93268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484632" y="3767328"/>
            <a:ext cx="25786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070C0"/>
                </a:solidFill>
                <a:latin typeface="Arial"/>
              </a:rPr>
              <a:t>4.96 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84632" y="4206240"/>
            <a:ext cx="2578608" cy="4297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average height error on 40 held-out airborne-LiDAR test tiles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236976" y="3730752"/>
            <a:ext cx="2807208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138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76" name="Rectangle 15375"/>
          <p:cNvSpPr/>
          <p:nvPr/>
        </p:nvSpPr>
        <p:spPr>
          <a:xfrm>
            <a:off x="3236976" y="3730752"/>
            <a:ext cx="82296" cy="932688"/>
          </a:xfrm>
          <a:prstGeom prst="rect">
            <a:avLst/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3401568" y="3767328"/>
            <a:ext cx="25786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38D75"/>
                </a:solidFill>
                <a:latin typeface="Arial"/>
              </a:rPr>
              <a:t>26% lower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3401568" y="4206240"/>
            <a:ext cx="2578608" cy="4297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error than RS3DAda, a published height model, on the same tiles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6153912" y="3730752"/>
            <a:ext cx="2807208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80" name="Rectangle 15379"/>
          <p:cNvSpPr/>
          <p:nvPr/>
        </p:nvSpPr>
        <p:spPr>
          <a:xfrm>
            <a:off x="6153912" y="3730752"/>
            <a:ext cx="82296" cy="93268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6318503" y="3767328"/>
            <a:ext cx="25786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D9822B"/>
                </a:solidFill>
                <a:latin typeface="Arial"/>
              </a:rPr>
              <a:t>3.8 m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6318503" y="4206240"/>
            <a:ext cx="2578608" cy="4297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full-DSM error on hilly terrain vs airborne LiDAR (terrain map alone: 5.9 m)</a:t>
            </a:r>
          </a:p>
        </p:txBody>
      </p:sp>
      <p:sp>
        <p:nvSpPr>
          <p:cNvPr id="15383" name="Rectangle 15382"/>
          <p:cNvSpPr/>
          <p:nvPr/>
        </p:nvSpPr>
        <p:spPr>
          <a:xfrm>
            <a:off x="9070848" y="3730752"/>
            <a:ext cx="2807208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84" name="Rectangle 15383"/>
          <p:cNvSpPr/>
          <p:nvPr/>
        </p:nvSpPr>
        <p:spPr>
          <a:xfrm>
            <a:off x="9070848" y="3730752"/>
            <a:ext cx="82296" cy="9326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9235440" y="3767328"/>
            <a:ext cx="257860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E7D32"/>
                </a:solidFill>
                <a:latin typeface="Arial"/>
              </a:rPr>
              <a:t>≈ 7 s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9235440" y="4206240"/>
            <a:ext cx="2578608" cy="4297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per 600 × 600 m scene on a laptop GPU, fully offline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320040" y="475488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HOW IT WORKS</a:t>
            </a:r>
            <a:r>
              <a:rPr sz="1150" b="0" i="0">
                <a:solidFill>
                  <a:srgbClr val="1F3864"/>
                </a:solidFill>
                <a:latin typeface="Arial"/>
              </a:rPr>
              <a:t>   ·   innovation: the model predicts metres directly (no relative-depth guessing) and every result can be checked against LiDAR</a:t>
            </a:r>
          </a:p>
        </p:txBody>
      </p:sp>
      <p:sp>
        <p:nvSpPr>
          <p:cNvPr id="15388" name="Pentagon 15387"/>
          <p:cNvSpPr/>
          <p:nvPr/>
        </p:nvSpPr>
        <p:spPr>
          <a:xfrm>
            <a:off x="320040" y="5102352"/>
            <a:ext cx="2397556" cy="1024128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82880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Image in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GeoTIFF · PNG · JPG · TIFF</a:t>
            </a:r>
          </a:p>
        </p:txBody>
      </p:sp>
      <p:sp>
        <p:nvSpPr>
          <p:cNvPr id="15389" name="Chevron 15388"/>
          <p:cNvSpPr/>
          <p:nvPr/>
        </p:nvSpPr>
        <p:spPr>
          <a:xfrm>
            <a:off x="2607868" y="5102352"/>
            <a:ext cx="2397556" cy="10241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Our AI model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heights in metres</a:t>
            </a:r>
          </a:p>
        </p:txBody>
      </p:sp>
      <p:sp>
        <p:nvSpPr>
          <p:cNvPr id="15390" name="Chevron 15389"/>
          <p:cNvSpPr/>
          <p:nvPr/>
        </p:nvSpPr>
        <p:spPr>
          <a:xfrm>
            <a:off x="4895697" y="5102352"/>
            <a:ext cx="2397556" cy="102412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+ Terrain map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Copernicus / SRTM</a:t>
            </a:r>
          </a:p>
        </p:txBody>
      </p:sp>
      <p:sp>
        <p:nvSpPr>
          <p:cNvPr id="15391" name="Chevron 15390"/>
          <p:cNvSpPr/>
          <p:nvPr/>
        </p:nvSpPr>
        <p:spPr>
          <a:xfrm>
            <a:off x="7183526" y="5102352"/>
            <a:ext cx="2397556" cy="10241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DSM GeoTIFF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QGIS / ArcGIS ready</a:t>
            </a:r>
          </a:p>
        </p:txBody>
      </p:sp>
      <p:sp>
        <p:nvSpPr>
          <p:cNvPr id="15392" name="Chevron 15391"/>
          <p:cNvSpPr/>
          <p:nvPr/>
        </p:nvSpPr>
        <p:spPr>
          <a:xfrm>
            <a:off x="9471355" y="5102352"/>
            <a:ext cx="2397556" cy="1024128"/>
          </a:xfrm>
          <a:prstGeom prst="chevron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3D flythrough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+ LiDAR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parall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1965960" cy="548310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20040" y="1197864"/>
            <a:ext cx="7315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48056" y="1152144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70C0"/>
                </a:solidFill>
                <a:latin typeface="Arial"/>
              </a:rPr>
              <a:t>TECHNOLOGIES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17904"/>
            <a:ext cx="740664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Python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220070" y="1517904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PyTorch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197825" y="1517904"/>
            <a:ext cx="1595628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DINOv3-SAT (Meta)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952820" y="1517904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GAMUS dataset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396919" y="1517904"/>
            <a:ext cx="1595628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Copernicus GLO-30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151914" y="1517904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Rasterio · GDAL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751461" y="1517904"/>
            <a:ext cx="1517904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Three.js · WebGL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0428732" y="1517904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USGS 3DEP LiDAR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20040" y="2039112"/>
            <a:ext cx="7315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48056" y="1993392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70C0"/>
                </a:solidFill>
                <a:latin typeface="Arial"/>
              </a:rPr>
              <a:t>METHODOLOGY: ONE IMAGE TO 3D (real outputs of our pipeline)</a:t>
            </a:r>
          </a:p>
        </p:txBody>
      </p:sp>
      <p:pic>
        <p:nvPicPr>
          <p:cNvPr id="17423" name="Picture 17422" descr="india_rgb.jpg"/>
          <p:cNvPicPr>
            <a:picLocks noChangeAspect="1"/>
          </p:cNvPicPr>
          <p:nvPr/>
        </p:nvPicPr>
        <p:blipFill>
          <a:blip r:embed="rId5"/>
          <a:srcRect t="5440" b="5440"/>
          <a:stretch>
            <a:fillRect/>
          </a:stretch>
        </p:blipFill>
        <p:spPr>
          <a:xfrm>
            <a:off x="320040" y="2377440"/>
            <a:ext cx="1764792" cy="1572768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24" name="Oval 17423"/>
          <p:cNvSpPr/>
          <p:nvPr/>
        </p:nvSpPr>
        <p:spPr>
          <a:xfrm>
            <a:off x="384048" y="244144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3986784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Input image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20040" y="4224528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55E6B"/>
                </a:solidFill>
                <a:latin typeface="Arial"/>
              </a:rPr>
              <a:t>WorldView-2, 0.31 m</a:t>
            </a:r>
          </a:p>
        </p:txBody>
      </p:sp>
      <p:sp>
        <p:nvSpPr>
          <p:cNvPr id="17427" name="Isosceles Triangle 17426"/>
          <p:cNvSpPr/>
          <p:nvPr/>
        </p:nvSpPr>
        <p:spPr>
          <a:xfrm rot="5400000">
            <a:off x="2107691" y="3044952"/>
            <a:ext cx="146304" cy="23774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28" name="Picture 17427" descr="india_tiles.jpg"/>
          <p:cNvPicPr>
            <a:picLocks noChangeAspect="1"/>
          </p:cNvPicPr>
          <p:nvPr/>
        </p:nvPicPr>
        <p:blipFill>
          <a:blip r:embed="rId6"/>
          <a:srcRect t="5440" b="5440"/>
          <a:stretch>
            <a:fillRect/>
          </a:stretch>
        </p:blipFill>
        <p:spPr>
          <a:xfrm>
            <a:off x="2276856" y="2377440"/>
            <a:ext cx="1764792" cy="1572768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29" name="Oval 17428"/>
          <p:cNvSpPr/>
          <p:nvPr/>
        </p:nvSpPr>
        <p:spPr>
          <a:xfrm>
            <a:off x="2340864" y="244144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276856" y="3986784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Split into tiles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2276856" y="4224528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55E6B"/>
                </a:solidFill>
                <a:latin typeface="Arial"/>
              </a:rPr>
              <a:t>608 px, 25% overlap</a:t>
            </a:r>
          </a:p>
        </p:txBody>
      </p:sp>
      <p:sp>
        <p:nvSpPr>
          <p:cNvPr id="17432" name="Isosceles Triangle 17431"/>
          <p:cNvSpPr/>
          <p:nvPr/>
        </p:nvSpPr>
        <p:spPr>
          <a:xfrm rot="5400000">
            <a:off x="4064508" y="3044952"/>
            <a:ext cx="146304" cy="23774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33" name="Picture 17432" descr="india_features.jpg"/>
          <p:cNvPicPr>
            <a:picLocks noChangeAspect="1"/>
          </p:cNvPicPr>
          <p:nvPr/>
        </p:nvPicPr>
        <p:blipFill>
          <a:blip r:embed="rId7"/>
          <a:srcRect t="5440" b="5440"/>
          <a:stretch>
            <a:fillRect/>
          </a:stretch>
        </p:blipFill>
        <p:spPr>
          <a:xfrm>
            <a:off x="4233672" y="2377440"/>
            <a:ext cx="1764792" cy="1572768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34" name="Oval 17433"/>
          <p:cNvSpPr/>
          <p:nvPr/>
        </p:nvSpPr>
        <p:spPr>
          <a:xfrm>
            <a:off x="4297680" y="244144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233672" y="3986784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What the AI sees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233672" y="4224528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55E6B"/>
                </a:solidFill>
                <a:latin typeface="Arial"/>
              </a:rPr>
              <a:t>DINOv3-SAT features</a:t>
            </a:r>
          </a:p>
        </p:txBody>
      </p:sp>
      <p:sp>
        <p:nvSpPr>
          <p:cNvPr id="17437" name="Isosceles Triangle 17436"/>
          <p:cNvSpPr/>
          <p:nvPr/>
        </p:nvSpPr>
        <p:spPr>
          <a:xfrm rot="5400000">
            <a:off x="6021324" y="3044952"/>
            <a:ext cx="146304" cy="23774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38" name="Picture 17437" descr="india_ndsm.jpg"/>
          <p:cNvPicPr>
            <a:picLocks noChangeAspect="1"/>
          </p:cNvPicPr>
          <p:nvPr/>
        </p:nvPicPr>
        <p:blipFill>
          <a:blip r:embed="rId8"/>
          <a:srcRect t="5440" b="5440"/>
          <a:stretch>
            <a:fillRect/>
          </a:stretch>
        </p:blipFill>
        <p:spPr>
          <a:xfrm>
            <a:off x="6190488" y="2377440"/>
            <a:ext cx="1764792" cy="1572768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39" name="Oval 17438"/>
          <p:cNvSpPr/>
          <p:nvPr/>
        </p:nvSpPr>
        <p:spPr>
          <a:xfrm>
            <a:off x="6254496" y="244144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190488" y="3986784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Height above ground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190488" y="4224528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55E6B"/>
                </a:solidFill>
                <a:latin typeface="Arial"/>
              </a:rPr>
              <a:t>our trained head, metres</a:t>
            </a:r>
          </a:p>
        </p:txBody>
      </p:sp>
      <p:sp>
        <p:nvSpPr>
          <p:cNvPr id="17442" name="Isosceles Triangle 17441"/>
          <p:cNvSpPr/>
          <p:nvPr/>
        </p:nvSpPr>
        <p:spPr>
          <a:xfrm rot="5400000">
            <a:off x="7978140" y="3044952"/>
            <a:ext cx="146304" cy="23774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43" name="Picture 17442" descr="india_dsm.jpg"/>
          <p:cNvPicPr>
            <a:picLocks noChangeAspect="1"/>
          </p:cNvPicPr>
          <p:nvPr/>
        </p:nvPicPr>
        <p:blipFill>
          <a:blip r:embed="rId9"/>
          <a:srcRect t="5440" b="5440"/>
          <a:stretch>
            <a:fillRect/>
          </a:stretch>
        </p:blipFill>
        <p:spPr>
          <a:xfrm>
            <a:off x="8147304" y="2377440"/>
            <a:ext cx="1764792" cy="1572768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44" name="Oval 17443"/>
          <p:cNvSpPr/>
          <p:nvPr/>
        </p:nvSpPr>
        <p:spPr>
          <a:xfrm>
            <a:off x="8211312" y="244144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8147304" y="3986784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+ terrain = DSM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147304" y="4224528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55E6B"/>
                </a:solidFill>
                <a:latin typeface="Arial"/>
              </a:rPr>
              <a:t>Copernicus 30 m, EGM2008</a:t>
            </a:r>
          </a:p>
        </p:txBody>
      </p:sp>
      <p:sp>
        <p:nvSpPr>
          <p:cNvPr id="17447" name="Isosceles Triangle 17446"/>
          <p:cNvSpPr/>
          <p:nvPr/>
        </p:nvSpPr>
        <p:spPr>
          <a:xfrm rot="5400000">
            <a:off x="9934956" y="3044952"/>
            <a:ext cx="146304" cy="23774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48" name="Picture 17447" descr="hero.jpg"/>
          <p:cNvPicPr>
            <a:picLocks noChangeAspect="1"/>
          </p:cNvPicPr>
          <p:nvPr/>
        </p:nvPicPr>
        <p:blipFill>
          <a:blip r:embed="rId10"/>
          <a:srcRect l="18011" r="18011"/>
          <a:stretch>
            <a:fillRect/>
          </a:stretch>
        </p:blipFill>
        <p:spPr>
          <a:xfrm>
            <a:off x="10104120" y="2377440"/>
            <a:ext cx="1764792" cy="1572768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49" name="Oval 17448"/>
          <p:cNvSpPr/>
          <p:nvPr/>
        </p:nvSpPr>
        <p:spPr>
          <a:xfrm>
            <a:off x="10168128" y="2441448"/>
            <a:ext cx="329184" cy="329184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0104120" y="3986784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3D flythrough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10104120" y="4224528"/>
            <a:ext cx="176479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55E6B"/>
                </a:solidFill>
                <a:latin typeface="Arial"/>
              </a:rPr>
              <a:t>Three.js, offline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20040" y="4590288"/>
            <a:ext cx="7086600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457200" y="4636008"/>
            <a:ext cx="6858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TRAINING AND VALIDATION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57200" y="4956048"/>
            <a:ext cx="2157984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50" b="1" i="0">
                <a:solidFill>
                  <a:srgbClr val="1F3864"/>
                </a:solidFill>
                <a:latin typeface="Arial"/>
              </a:rPr>
              <a:t>GAMUS</a:t>
            </a:r>
          </a:p>
          <a:p>
            <a:pPr algn="ctr"/>
            <a:r>
              <a:rPr sz="950" b="0" i="0">
                <a:solidFill>
                  <a:srgbClr val="1F3864"/>
                </a:solidFill>
                <a:latin typeface="Arial"/>
              </a:rPr>
              <a:t>aerial photos + airborne-LiDAR heights; 480 train · 48 val · 40 test tiles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2761488" y="4956048"/>
            <a:ext cx="2157984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50" b="1" i="0">
                <a:solidFill>
                  <a:srgbClr val="1F3864"/>
                </a:solidFill>
                <a:latin typeface="Arial"/>
              </a:rPr>
              <a:t>Model</a:t>
            </a:r>
          </a:p>
          <a:p>
            <a:pPr algn="ctr"/>
            <a:r>
              <a:rPr sz="950" b="0" i="0">
                <a:solidFill>
                  <a:srgbClr val="1F3864"/>
                </a:solidFill>
                <a:latin typeface="Arial"/>
              </a:rPr>
              <a:t>frozen DINOv3-SAT encoder + our DPT head, Huber loss in metres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5065776" y="4956048"/>
            <a:ext cx="2157984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150" b="1" i="0">
                <a:solidFill>
                  <a:srgbClr val="1F3864"/>
                </a:solidFill>
                <a:latin typeface="Arial"/>
              </a:rPr>
              <a:t>Tested</a:t>
            </a:r>
          </a:p>
          <a:p>
            <a:pPr algn="ctr"/>
            <a:r>
              <a:rPr sz="950" b="0" i="0">
                <a:solidFill>
                  <a:srgbClr val="1F3864"/>
                </a:solidFill>
                <a:latin typeface="Arial"/>
              </a:rPr>
              <a:t>on held-out tiles and 8 USGS LiDAR sites, never on training data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543800" y="4590288"/>
            <a:ext cx="4325112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58" name="Picture 17457" descr="india_02_height.jpg"/>
          <p:cNvPicPr>
            <a:picLocks noChangeAspect="1"/>
          </p:cNvPicPr>
          <p:nvPr/>
        </p:nvPicPr>
        <p:blipFill>
          <a:blip r:embed="rId11"/>
          <a:srcRect l="16195" r="16195"/>
          <a:stretch>
            <a:fillRect/>
          </a:stretch>
        </p:blipFill>
        <p:spPr>
          <a:xfrm>
            <a:off x="7635240" y="4681728"/>
            <a:ext cx="2103120" cy="1444752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59" name="TextBox 17458"/>
          <p:cNvSpPr txBox="1"/>
          <p:nvPr/>
        </p:nvSpPr>
        <p:spPr>
          <a:xfrm>
            <a:off x="9802368" y="46634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WORKING PROTOTYPE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802368" y="4956048"/>
            <a:ext cx="20116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C1C1C"/>
                </a:solidFill>
                <a:latin typeface="Arial"/>
              </a:rPr>
              <a:t>Upload an image, get the DSM, fly through it in 3D and check it against LiDAR, all in the browser,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parall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1965960" cy="548310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20040" y="1188720"/>
            <a:ext cx="3749039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320040" y="1188720"/>
            <a:ext cx="82296" cy="89611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216152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It already works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1517904"/>
            <a:ext cx="3474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Built and tested end to end: image in, DSM GeoTIFF and 3D scene out. 101 automated tests pass.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197096" y="1188720"/>
            <a:ext cx="3749039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138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197096" y="1188720"/>
            <a:ext cx="82296" cy="896112"/>
          </a:xfrm>
          <a:prstGeom prst="rect">
            <a:avLst/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379976" y="1216152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38D75"/>
                </a:solidFill>
                <a:latin typeface="Arial"/>
              </a:rPr>
              <a:t>Accuracy is measured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379976" y="1517904"/>
            <a:ext cx="3474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40 held-out LiDAR tiles and 8 USGS airborne-LiDAR sites, from towns to hills.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8074152" y="1188720"/>
            <a:ext cx="3749039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8074152" y="1188720"/>
            <a:ext cx="82296" cy="89611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257031" y="1216152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Arial"/>
              </a:rPr>
              <a:t>Cheap to run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257031" y="1517904"/>
            <a:ext cx="3474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E6B"/>
                </a:solidFill>
                <a:latin typeface="Arial"/>
              </a:rPr>
              <a:t>Laptop GPU, offline, free data (GAMUS, Copernicus DEM). No survey flights.</a:t>
            </a:r>
          </a:p>
        </p:txBody>
      </p:sp>
      <p:graphicFrame>
        <p:nvGraphicFramePr>
          <p:cNvPr id="17423" name="Chart 17422"/>
          <p:cNvGraphicFramePr>
            <a:graphicFrameLocks noGrp="1"/>
          </p:cNvGraphicFramePr>
          <p:nvPr/>
        </p:nvGraphicFramePr>
        <p:xfrm>
          <a:off x="320040" y="2194560"/>
          <a:ext cx="5669280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7424" name="Chart 17423"/>
          <p:cNvGraphicFramePr>
            <a:graphicFrameLocks noGrp="1"/>
          </p:cNvGraphicFramePr>
          <p:nvPr/>
        </p:nvGraphicFramePr>
        <p:xfrm>
          <a:off x="6199632" y="2194560"/>
          <a:ext cx="5669280" cy="21945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7425" name="Table 17424"/>
          <p:cNvGraphicFramePr>
            <a:graphicFrameLocks noGrp="1"/>
          </p:cNvGraphicFramePr>
          <p:nvPr/>
        </p:nvGraphicFramePr>
        <p:xfrm>
          <a:off x="320040" y="4498848"/>
          <a:ext cx="115488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793992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How we handle it</a:t>
                      </a:r>
                    </a:p>
                  </a:txBody>
                  <a:tcPr marL="73152" marR="73152" marT="27432" marB="27432" anchor="ctr">
                    <a:solidFill>
                      <a:srgbClr val="0070C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Tall towers and dense 25 m canopy are under-predicted.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We report it openly (35.9 m error in a downtown); next, more tall-building and forest tiles in training.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Trained on US aerial photos; Indian satellite accuracy not yet measured.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Pixel-size normalisation (tested 0.3–1 m); the built-in reference check scores any ISRO scene with ground truth.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Metric scale from one image is ill-posed.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Model trained on LiDAR metres; terrain from Copernicus or SRTM; map points or a reference raster calibrate.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Angled (oblique) photos show building walls.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C1C1C"/>
                          </a:solidFill>
                          <a:latin typeface="Arial"/>
                        </a:rPr>
                        <a:t>We take top-down satellite and aerial imagery, as the problem statement specifies.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parall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"/>
            <a:ext cx="1965960" cy="548310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320040" y="1197864"/>
            <a:ext cx="7315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48056" y="1152144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70C0"/>
                </a:solidFill>
                <a:latin typeface="Arial"/>
              </a:rPr>
              <a:t>WHO IT HELPS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36192"/>
            <a:ext cx="3749039" cy="2395728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14" name="Picture 17413" descr="india_04_flood.jpg"/>
          <p:cNvPicPr>
            <a:picLocks noChangeAspect="1"/>
          </p:cNvPicPr>
          <p:nvPr/>
        </p:nvPicPr>
        <p:blipFill>
          <a:blip r:embed="rId5"/>
          <a:srcRect t="8595" b="8595"/>
          <a:stretch>
            <a:fillRect/>
          </a:stretch>
        </p:blipFill>
        <p:spPr>
          <a:xfrm>
            <a:off x="411479" y="1627632"/>
            <a:ext cx="3566160" cy="137160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15" name="TextBox 17414"/>
          <p:cNvSpPr txBox="1"/>
          <p:nvPr/>
        </p:nvSpPr>
        <p:spPr>
          <a:xfrm>
            <a:off x="457200" y="3035808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Disaster management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3319272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C1C1C"/>
                </a:solidFill>
                <a:latin typeface="Arial"/>
              </a:rPr>
              <a:t>Flood and landslide screening from one image. Here, at a 36 m river rise, 12 of 204 buildings are reached.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97096" y="1536192"/>
            <a:ext cx="3749039" cy="2395728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18" name="Picture 17417" descr="india_03_buildings_floors.jpg"/>
          <p:cNvPicPr>
            <a:picLocks noChangeAspect="1"/>
          </p:cNvPicPr>
          <p:nvPr/>
        </p:nvPicPr>
        <p:blipFill>
          <a:blip r:embed="rId6"/>
          <a:srcRect t="8595" b="8595"/>
          <a:stretch>
            <a:fillRect/>
          </a:stretch>
        </p:blipFill>
        <p:spPr>
          <a:xfrm>
            <a:off x="4288536" y="1627632"/>
            <a:ext cx="3566160" cy="137160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19" name="TextBox 17418"/>
          <p:cNvSpPr txBox="1"/>
          <p:nvPr/>
        </p:nvSpPr>
        <p:spPr>
          <a:xfrm>
            <a:off x="4334256" y="3035808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Urban planning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34256" y="3319272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C1C1C"/>
                </a:solidFill>
                <a:latin typeface="Arial"/>
              </a:rPr>
              <a:t>Building heights and floor estimates, slopes and contours for growth, drainage and rooftop planning.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74152" y="1536192"/>
            <a:ext cx="3749039" cy="2395728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pic>
        <p:nvPicPr>
          <p:cNvPr id="17422" name="Picture 17421" descr="hero.jpg"/>
          <p:cNvPicPr>
            <a:picLocks noChangeAspect="1"/>
          </p:cNvPicPr>
          <p:nvPr/>
        </p:nvPicPr>
        <p:blipFill>
          <a:blip r:embed="rId7"/>
          <a:srcRect t="16272" b="16272"/>
          <a:stretch>
            <a:fillRect/>
          </a:stretch>
        </p:blipFill>
        <p:spPr>
          <a:xfrm>
            <a:off x="8165592" y="1627632"/>
            <a:ext cx="3566160" cy="137160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7423" name="TextBox 17422"/>
          <p:cNvSpPr txBox="1"/>
          <p:nvPr/>
        </p:nvSpPr>
        <p:spPr>
          <a:xfrm>
            <a:off x="8211312" y="3035808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Remote and border areas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11312" y="3319272"/>
            <a:ext cx="352044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C1C1C"/>
                </a:solidFill>
                <a:latin typeface="Arial"/>
              </a:rPr>
              <a:t>Terrain where no LiDAR exists, such as Himalayan towns, for relief and mission planning.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320040" y="4069080"/>
            <a:ext cx="73152" cy="2743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448056" y="402336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70C0"/>
                </a:solidFill>
                <a:latin typeface="Arial"/>
              </a:rPr>
              <a:t>BENEFITS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4389120"/>
            <a:ext cx="2807208" cy="117043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ECONOMIC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No survey flight: uses imagery already collected and a free 30 m terrain map.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36976" y="4389120"/>
            <a:ext cx="2807208" cy="117043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SOCIAL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Faster hazard maps for places that have never been surveyed.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53912" y="4389120"/>
            <a:ext cx="2807208" cy="117043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ENVIRONMENTAL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No extra aircraft or drone flights.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070848" y="4389120"/>
            <a:ext cx="2807208" cy="117043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OPERATIONAL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Offline on a laptop in seconds; standard GeoTIFF for existing GIS tools.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20040" y="5650992"/>
            <a:ext cx="1154887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1">
                <a:solidFill>
                  <a:srgbClr val="1F3864"/>
                </a:solidFill>
                <a:latin typeface="Arial"/>
              </a:rPr>
              <a:t>“ParallaX turns images India already collects into measured 3D terrain in seconds, and shows its own error against LiDAR.”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